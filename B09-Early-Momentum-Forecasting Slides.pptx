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Rubik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8">
          <p15:clr>
            <a:srgbClr val="747775"/>
          </p15:clr>
        </p15:guide>
        <p15:guide id="2" orient="horz" pos="2250">
          <p15:clr>
            <a:srgbClr val="747775"/>
          </p15:clr>
        </p15:guide>
        <p15:guide id="3" orient="horz" pos="925">
          <p15:clr>
            <a:srgbClr val="747775"/>
          </p15:clr>
        </p15:guide>
        <p15:guide id="4" pos="5184">
          <p15:clr>
            <a:srgbClr val="747775"/>
          </p15:clr>
        </p15:guide>
        <p15:guide id="5" pos="1004">
          <p15:clr>
            <a:srgbClr val="747775"/>
          </p15:clr>
        </p15:guide>
        <p15:guide id="6" pos="315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8"/>
        <p:guide pos="2250" orient="horz"/>
        <p:guide pos="925" orient="horz"/>
        <p:guide pos="5184"/>
        <p:guide pos="1004"/>
        <p:guide pos="315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Rubik-bold.fntdata"/><Relationship Id="rId14" Type="http://schemas.openxmlformats.org/officeDocument/2006/relationships/slide" Target="slides/slide9.xml"/><Relationship Id="rId36" Type="http://schemas.openxmlformats.org/officeDocument/2006/relationships/font" Target="fonts/Rubik-regular.fntdata"/><Relationship Id="rId17" Type="http://schemas.openxmlformats.org/officeDocument/2006/relationships/slide" Target="slides/slide12.xml"/><Relationship Id="rId39" Type="http://schemas.openxmlformats.org/officeDocument/2006/relationships/font" Target="fonts/Rubik-boldItalic.fntdata"/><Relationship Id="rId16" Type="http://schemas.openxmlformats.org/officeDocument/2006/relationships/slide" Target="slides/slide11.xml"/><Relationship Id="rId38" Type="http://schemas.openxmlformats.org/officeDocument/2006/relationships/font" Target="fonts/Rubik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78ae5f976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78ae5f976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78ae5f976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78ae5f976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ec657f9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aec657f9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ec657f9f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ec657f9f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78ae5f976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78ae5f976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797fc01700_0_17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797fc01700_0_17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aec657f9f5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aec657f9f5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aec496994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aec496994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ahrar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797fc01700_0_17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797fc01700_0_17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ahrar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af1ecda03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af1ecda03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ahrar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af1ecda031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af1ecda031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hrar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StandardScaler transforms numeric features so that </a:t>
            </a:r>
            <a:r>
              <a:rPr b="1" lang="en">
                <a:solidFill>
                  <a:schemeClr val="dk1"/>
                </a:solidFill>
              </a:rPr>
              <a:t>each feature has: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mean = 0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standard deviation = 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aec657f9f5_3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aec657f9f5_3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aec657f9f5_3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aec657f9f5_3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Rahul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797fc01700_0_17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797fc01700_0_17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Rahul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Balanced Accuracy = (TPR + TNR) / 2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Penalizes the model if it fails on the minority class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Ensures recall is not artificially suppressed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Encourages the model to learn both classes equally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797fc01700_0_17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797fc01700_0_17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Rahul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af1ecda03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af1ecda03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Rahul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Precision</a:t>
            </a:r>
            <a:r>
              <a:rPr lang="en">
                <a:solidFill>
                  <a:schemeClr val="dk1"/>
                </a:solidFill>
              </a:rPr>
              <a:t> = How reliable are our positive predictions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Recall</a:t>
            </a:r>
            <a:r>
              <a:rPr lang="en">
                <a:solidFill>
                  <a:schemeClr val="dk1"/>
                </a:solidFill>
              </a:rPr>
              <a:t> = How many true bestsellers we successfully catch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af1ecda031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af1ecda031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Rahul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aec657f9f5_3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aec657f9f5_3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ec657f9f5_3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aec657f9f5_3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af2cb10d9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af2cb10d9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797fc01700_0_18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797fc01700_0_18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ubik"/>
                <a:ea typeface="Rubik"/>
                <a:cs typeface="Rubik"/>
                <a:sym typeface="Rubi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305015" y="2009367"/>
            <a:ext cx="36021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5419915" y="3493692"/>
            <a:ext cx="2486700" cy="705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17" name="Google Shape;17;p4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8" name="Google Shape;18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" name="Google Shape;40;p4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" name="Google Shape;46;p4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713225" y="1158501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" name="Google Shape;55;p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56" name="Google Shape;56;p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59" name="Google Shape;59;p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" type="body"/>
          </p:nvPr>
        </p:nvSpPr>
        <p:spPr>
          <a:xfrm>
            <a:off x="713225" y="1347000"/>
            <a:ext cx="38589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5"/>
          <p:cNvSpPr txBox="1"/>
          <p:nvPr>
            <p:ph idx="2" type="body"/>
          </p:nvPr>
        </p:nvSpPr>
        <p:spPr>
          <a:xfrm>
            <a:off x="4571675" y="1347000"/>
            <a:ext cx="38589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6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82" name="Google Shape;82;p6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83" name="Google Shape;83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" name="Google Shape;84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5" name="Google Shape;105;p6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8" name="Google Shape;108;p6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09" name="Google Shape;109;p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11" name="Google Shape;111;p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" name="Google Shape;119;p7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120" name="Google Shape;120;p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7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Google Shape;141;p7"/>
          <p:cNvSpPr txBox="1"/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1" type="subTitle"/>
          </p:nvPr>
        </p:nvSpPr>
        <p:spPr>
          <a:xfrm>
            <a:off x="712568" y="2628220"/>
            <a:ext cx="48600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7"/>
          <p:cNvSpPr/>
          <p:nvPr>
            <p:ph idx="2" type="pic"/>
          </p:nvPr>
        </p:nvSpPr>
        <p:spPr>
          <a:xfrm>
            <a:off x="5763458" y="1274475"/>
            <a:ext cx="2608200" cy="260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3662475" y="2174375"/>
            <a:ext cx="4359000" cy="1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9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148" name="Google Shape;148;p9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9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72" name="Google Shape;172;p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9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75" name="Google Shape;175;p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7" name="Google Shape;177;p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9" name="Google Shape;179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>
            <p:ph idx="2" type="pic"/>
          </p:nvPr>
        </p:nvSpPr>
        <p:spPr>
          <a:xfrm>
            <a:off x="-31800" y="-50850"/>
            <a:ext cx="9207600" cy="52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hasCustomPrompt="1" type="title"/>
          </p:nvPr>
        </p:nvSpPr>
        <p:spPr>
          <a:xfrm>
            <a:off x="901613" y="1847944"/>
            <a:ext cx="40005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11"/>
          <p:cNvSpPr txBox="1"/>
          <p:nvPr>
            <p:ph idx="1" type="subTitle"/>
          </p:nvPr>
        </p:nvSpPr>
        <p:spPr>
          <a:xfrm>
            <a:off x="901613" y="2804585"/>
            <a:ext cx="4694400" cy="462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3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189" name="Google Shape;189;p13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190" name="Google Shape;190;p13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p13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6" name="Google Shape;196;p1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98" name="Google Shape;198;p13"/>
          <p:cNvSpPr txBox="1"/>
          <p:nvPr>
            <p:ph hasCustomPrompt="1" idx="2" type="title"/>
          </p:nvPr>
        </p:nvSpPr>
        <p:spPr>
          <a:xfrm>
            <a:off x="928183" y="142162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/>
          <p:nvPr>
            <p:ph idx="1" type="subTitle"/>
          </p:nvPr>
        </p:nvSpPr>
        <p:spPr>
          <a:xfrm>
            <a:off x="928187" y="182875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3"/>
          <p:cNvSpPr txBox="1"/>
          <p:nvPr>
            <p:ph idx="3" type="subTitle"/>
          </p:nvPr>
        </p:nvSpPr>
        <p:spPr>
          <a:xfrm>
            <a:off x="928187" y="228395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hasCustomPrompt="1" idx="4" type="title"/>
          </p:nvPr>
        </p:nvSpPr>
        <p:spPr>
          <a:xfrm>
            <a:off x="4725409" y="142162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/>
          <p:nvPr>
            <p:ph idx="5" type="subTitle"/>
          </p:nvPr>
        </p:nvSpPr>
        <p:spPr>
          <a:xfrm>
            <a:off x="4725412" y="182875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idx="6" type="subTitle"/>
          </p:nvPr>
        </p:nvSpPr>
        <p:spPr>
          <a:xfrm>
            <a:off x="4725412" y="228395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hasCustomPrompt="1" idx="7" type="title"/>
          </p:nvPr>
        </p:nvSpPr>
        <p:spPr>
          <a:xfrm>
            <a:off x="928183" y="296557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idx="8" type="subTitle"/>
          </p:nvPr>
        </p:nvSpPr>
        <p:spPr>
          <a:xfrm>
            <a:off x="928187" y="337270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idx="9" type="subTitle"/>
          </p:nvPr>
        </p:nvSpPr>
        <p:spPr>
          <a:xfrm>
            <a:off x="928187" y="382790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3"/>
          <p:cNvSpPr txBox="1"/>
          <p:nvPr>
            <p:ph hasCustomPrompt="1" idx="13" type="title"/>
          </p:nvPr>
        </p:nvSpPr>
        <p:spPr>
          <a:xfrm>
            <a:off x="4725409" y="296557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/>
          <p:nvPr>
            <p:ph idx="14" type="subTitle"/>
          </p:nvPr>
        </p:nvSpPr>
        <p:spPr>
          <a:xfrm>
            <a:off x="4725412" y="337270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3"/>
          <p:cNvSpPr txBox="1"/>
          <p:nvPr>
            <p:ph idx="15" type="subTitle"/>
          </p:nvPr>
        </p:nvSpPr>
        <p:spPr>
          <a:xfrm>
            <a:off x="4725412" y="382790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4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12" name="Google Shape;212;p14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13" name="Google Shape;213;p1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14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16" name="Google Shape;216;p1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p14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7" name="Google Shape;237;p14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39" name="Google Shape;239;p14"/>
          <p:cNvSpPr txBox="1"/>
          <p:nvPr>
            <p:ph idx="1" type="subTitle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14"/>
          <p:cNvSpPr txBox="1"/>
          <p:nvPr>
            <p:ph idx="2" type="subTitle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4"/>
          <p:cNvSpPr txBox="1"/>
          <p:nvPr>
            <p:ph idx="3" type="subTitle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4"/>
          <p:cNvSpPr txBox="1"/>
          <p:nvPr>
            <p:ph idx="4" type="subTitle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3" name="Google Shape;243;p14"/>
          <p:cNvSpPr txBox="1"/>
          <p:nvPr>
            <p:ph idx="5" type="subTitle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4" name="Google Shape;244;p14"/>
          <p:cNvSpPr txBox="1"/>
          <p:nvPr>
            <p:ph idx="6" type="subTitle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14"/>
          <p:cNvSpPr txBox="1"/>
          <p:nvPr>
            <p:ph idx="7" type="subTitle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14"/>
          <p:cNvSpPr txBox="1"/>
          <p:nvPr>
            <p:ph idx="8" type="subTitle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1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50" name="Google Shape;250;p1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51" name="Google Shape;251;p1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1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6" name="Google Shape;256;p1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57" name="Google Shape;257;p1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5" name="Google Shape;275;p1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76" name="Google Shape;276;p15"/>
          <p:cNvSpPr txBox="1"/>
          <p:nvPr>
            <p:ph idx="1" type="subTitle"/>
          </p:nvPr>
        </p:nvSpPr>
        <p:spPr>
          <a:xfrm>
            <a:off x="1233033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15"/>
          <p:cNvSpPr txBox="1"/>
          <p:nvPr>
            <p:ph idx="2" type="subTitle"/>
          </p:nvPr>
        </p:nvSpPr>
        <p:spPr>
          <a:xfrm>
            <a:off x="1233033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15"/>
          <p:cNvSpPr txBox="1"/>
          <p:nvPr>
            <p:ph idx="3" type="subTitle"/>
          </p:nvPr>
        </p:nvSpPr>
        <p:spPr>
          <a:xfrm>
            <a:off x="3630986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4" type="subTitle"/>
          </p:nvPr>
        </p:nvSpPr>
        <p:spPr>
          <a:xfrm>
            <a:off x="3630986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5" type="subTitle"/>
          </p:nvPr>
        </p:nvSpPr>
        <p:spPr>
          <a:xfrm>
            <a:off x="1233033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idx="6" type="subTitle"/>
          </p:nvPr>
        </p:nvSpPr>
        <p:spPr>
          <a:xfrm>
            <a:off x="1233033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7" type="subTitle"/>
          </p:nvPr>
        </p:nvSpPr>
        <p:spPr>
          <a:xfrm>
            <a:off x="3630986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 txBox="1"/>
          <p:nvPr>
            <p:ph idx="8" type="subTitle"/>
          </p:nvPr>
        </p:nvSpPr>
        <p:spPr>
          <a:xfrm>
            <a:off x="3630986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15"/>
          <p:cNvSpPr txBox="1"/>
          <p:nvPr>
            <p:ph idx="9" type="subTitle"/>
          </p:nvPr>
        </p:nvSpPr>
        <p:spPr>
          <a:xfrm>
            <a:off x="6028940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15"/>
          <p:cNvSpPr txBox="1"/>
          <p:nvPr>
            <p:ph idx="13" type="subTitle"/>
          </p:nvPr>
        </p:nvSpPr>
        <p:spPr>
          <a:xfrm>
            <a:off x="6028940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idx="14" type="subTitle"/>
          </p:nvPr>
        </p:nvSpPr>
        <p:spPr>
          <a:xfrm>
            <a:off x="6028940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idx="15" type="subTitle"/>
          </p:nvPr>
        </p:nvSpPr>
        <p:spPr>
          <a:xfrm>
            <a:off x="6028940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6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290" name="Google Shape;290;p16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" name="Google Shape;294;p16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295" name="Google Shape;295;p1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7" name="Google Shape;297;p1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99" name="Google Shape;299;p16"/>
          <p:cNvSpPr txBox="1"/>
          <p:nvPr>
            <p:ph idx="1" type="subTitle"/>
          </p:nvPr>
        </p:nvSpPr>
        <p:spPr>
          <a:xfrm>
            <a:off x="1752593" y="131922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6"/>
          <p:cNvSpPr txBox="1"/>
          <p:nvPr>
            <p:ph idx="2" type="subTitle"/>
          </p:nvPr>
        </p:nvSpPr>
        <p:spPr>
          <a:xfrm>
            <a:off x="1752593" y="1965909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3" type="subTitle"/>
          </p:nvPr>
        </p:nvSpPr>
        <p:spPr>
          <a:xfrm>
            <a:off x="1752593" y="2612596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6"/>
          <p:cNvSpPr txBox="1"/>
          <p:nvPr>
            <p:ph idx="4" type="subTitle"/>
          </p:nvPr>
        </p:nvSpPr>
        <p:spPr>
          <a:xfrm>
            <a:off x="1752593" y="3259284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16"/>
          <p:cNvSpPr txBox="1"/>
          <p:nvPr>
            <p:ph idx="5" type="subTitle"/>
          </p:nvPr>
        </p:nvSpPr>
        <p:spPr>
          <a:xfrm>
            <a:off x="1752593" y="390597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4" name="Google Shape;304;p16"/>
          <p:cNvSpPr txBox="1"/>
          <p:nvPr>
            <p:ph idx="6" type="subTitle"/>
          </p:nvPr>
        </p:nvSpPr>
        <p:spPr>
          <a:xfrm>
            <a:off x="5535168" y="131922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" name="Google Shape;305;p16"/>
          <p:cNvSpPr txBox="1"/>
          <p:nvPr>
            <p:ph idx="7" type="subTitle"/>
          </p:nvPr>
        </p:nvSpPr>
        <p:spPr>
          <a:xfrm>
            <a:off x="5535168" y="1965909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16"/>
          <p:cNvSpPr txBox="1"/>
          <p:nvPr>
            <p:ph idx="8" type="subTitle"/>
          </p:nvPr>
        </p:nvSpPr>
        <p:spPr>
          <a:xfrm>
            <a:off x="5535168" y="2612596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16"/>
          <p:cNvSpPr txBox="1"/>
          <p:nvPr>
            <p:ph idx="9" type="subTitle"/>
          </p:nvPr>
        </p:nvSpPr>
        <p:spPr>
          <a:xfrm>
            <a:off x="5535168" y="3259284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16"/>
          <p:cNvSpPr txBox="1"/>
          <p:nvPr>
            <p:ph idx="13" type="subTitle"/>
          </p:nvPr>
        </p:nvSpPr>
        <p:spPr>
          <a:xfrm>
            <a:off x="5535168" y="390597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7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311" name="Google Shape;311;p17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12" name="Google Shape;312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3" name="Google Shape;313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4" name="Google Shape;314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5" name="Google Shape;315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34" name="Google Shape;334;p17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335" name="Google Shape;335;p1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37" name="Google Shape;337;p17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338" name="Google Shape;338;p1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40" name="Google Shape;340;p17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 txBox="1"/>
          <p:nvPr>
            <p:ph hasCustomPrompt="1" type="title"/>
          </p:nvPr>
        </p:nvSpPr>
        <p:spPr>
          <a:xfrm>
            <a:off x="1289888" y="1014358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2" name="Google Shape;342;p17"/>
          <p:cNvSpPr txBox="1"/>
          <p:nvPr>
            <p:ph idx="1" type="subTitle"/>
          </p:nvPr>
        </p:nvSpPr>
        <p:spPr>
          <a:xfrm>
            <a:off x="1289888" y="1953556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hasCustomPrompt="1" idx="2" type="title"/>
          </p:nvPr>
        </p:nvSpPr>
        <p:spPr>
          <a:xfrm>
            <a:off x="5079313" y="1014358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4" name="Google Shape;344;p17"/>
          <p:cNvSpPr txBox="1"/>
          <p:nvPr>
            <p:ph idx="3" type="subTitle"/>
          </p:nvPr>
        </p:nvSpPr>
        <p:spPr>
          <a:xfrm>
            <a:off x="5079313" y="1953556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5" name="Google Shape;345;p17"/>
          <p:cNvSpPr txBox="1"/>
          <p:nvPr>
            <p:ph hasCustomPrompt="1" idx="4" type="title"/>
          </p:nvPr>
        </p:nvSpPr>
        <p:spPr>
          <a:xfrm>
            <a:off x="1289888" y="2891884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6" name="Google Shape;346;p17"/>
          <p:cNvSpPr txBox="1"/>
          <p:nvPr>
            <p:ph idx="5" type="subTitle"/>
          </p:nvPr>
        </p:nvSpPr>
        <p:spPr>
          <a:xfrm>
            <a:off x="1289888" y="3831083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17"/>
          <p:cNvSpPr txBox="1"/>
          <p:nvPr>
            <p:ph hasCustomPrompt="1" idx="6" type="title"/>
          </p:nvPr>
        </p:nvSpPr>
        <p:spPr>
          <a:xfrm>
            <a:off x="5079313" y="2891884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8" name="Google Shape;348;p17"/>
          <p:cNvSpPr txBox="1"/>
          <p:nvPr>
            <p:ph idx="7" type="subTitle"/>
          </p:nvPr>
        </p:nvSpPr>
        <p:spPr>
          <a:xfrm>
            <a:off x="5079313" y="3831083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8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51" name="Google Shape;351;p18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52" name="Google Shape;352;p18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8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5" name="Google Shape;355;p18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56" name="Google Shape;356;p18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8" name="Google Shape;358;p18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19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363" name="Google Shape;363;p19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364" name="Google Shape;364;p1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19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367" name="Google Shape;367;p1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" name="Google Shape;369;p19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8" name="Google Shape;388;p1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grpSp>
        <p:nvGrpSpPr>
          <p:cNvPr id="391" name="Google Shape;391;p20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392" name="Google Shape;392;p20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93" name="Google Shape;393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" name="Google Shape;415;p20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6" name="Google Shape;416;p20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8" name="Google Shape;418;p20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19" name="Google Shape;419;p20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1" name="Google Shape;421;p20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 flipH="1">
            <a:off x="2677775" y="368238"/>
            <a:ext cx="5953005" cy="4407033"/>
          </a:xfrm>
          <a:custGeom>
            <a:rect b="b" l="l" r="r" t="t"/>
            <a:pathLst>
              <a:path extrusionOk="0" h="99375" w="130577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5132825" y="3412502"/>
            <a:ext cx="290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CREDITS: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This presentation template was created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, and includes icons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and infographics &amp; images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 u="sng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25" name="Google Shape;425;p21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sz="5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5132825" y="1497926"/>
            <a:ext cx="2906400" cy="1279500"/>
          </a:xfrm>
          <a:prstGeom prst="rect">
            <a:avLst/>
          </a:prstGeom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22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429" name="Google Shape;429;p2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430" name="Google Shape;430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" name="Google Shape;452;p22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453" name="Google Shape;453;p2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1" name="Google Shape;471;p2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472" name="Google Shape;472;p22"/>
            <p:cNvSpPr/>
            <p:nvPr/>
          </p:nvSpPr>
          <p:spPr>
            <a:xfrm>
              <a:off x="527100" y="368100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2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475" name="Google Shape;475;p2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482" name="Google Shape;482;p2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23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487" name="Google Shape;487;p23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488" name="Google Shape;488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0" name="Google Shape;510;p23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511" name="Google Shape;511;p2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3" name="Google Shape;513;p23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514" name="Google Shape;514;p23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6" name="Google Shape;516;p2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8501"/>
            <a:ext cx="7717500" cy="3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lab.research.google.com/drive/1FQHHjC4g98R9T_1YLuvtLpsVWRc4Wm7X#scrollTo=ZbEXlD5m5Mi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24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522" name="Google Shape;522;p24"/>
            <p:cNvSpPr/>
            <p:nvPr/>
          </p:nvSpPr>
          <p:spPr>
            <a:xfrm>
              <a:off x="527100" y="368100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24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525" name="Google Shape;525;p24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526" name="Google Shape;526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8" name="Google Shape;548;p24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549" name="Google Shape;549;p2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67" name="Google Shape;567;p24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568" name="Google Shape;568;p24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569" name="Google Shape;569;p2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1" name="Google Shape;571;p24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72" name="Google Shape;572;p2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4" name="Google Shape;574;p24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75" name="Google Shape;575;p2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78" name="Google Shape;578;p24"/>
          <p:cNvSpPr txBox="1"/>
          <p:nvPr>
            <p:ph type="ctrTitle"/>
          </p:nvPr>
        </p:nvSpPr>
        <p:spPr>
          <a:xfrm>
            <a:off x="843925" y="1466000"/>
            <a:ext cx="4762800" cy="21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Early</a:t>
            </a:r>
            <a:r>
              <a:rPr lang="en">
                <a:solidFill>
                  <a:schemeClr val="lt1"/>
                </a:solidFill>
              </a:rPr>
              <a:t> Momentum Forecasting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79" name="Google Shape;579;p24"/>
          <p:cNvSpPr txBox="1"/>
          <p:nvPr>
            <p:ph idx="1" type="subTitle"/>
          </p:nvPr>
        </p:nvSpPr>
        <p:spPr>
          <a:xfrm>
            <a:off x="843931" y="3659835"/>
            <a:ext cx="3984300" cy="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Team B09: </a:t>
            </a:r>
            <a:endParaRPr sz="1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Aryan Jain, Ahrar Karim, Drishti Chulani, Linh Le, Sai Leela Rahul Pujari</a:t>
            </a:r>
            <a:endParaRPr sz="1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25"/>
          <p:cNvGrpSpPr/>
          <p:nvPr/>
        </p:nvGrpSpPr>
        <p:grpSpPr>
          <a:xfrm>
            <a:off x="710321" y="368238"/>
            <a:ext cx="7920460" cy="4407033"/>
            <a:chOff x="710321" y="368238"/>
            <a:chExt cx="7920460" cy="4407033"/>
          </a:xfrm>
        </p:grpSpPr>
        <p:sp>
          <p:nvSpPr>
            <p:cNvPr id="585" name="Google Shape;585;p25"/>
            <p:cNvSpPr/>
            <p:nvPr/>
          </p:nvSpPr>
          <p:spPr>
            <a:xfrm flipH="1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5"/>
            <p:cNvSpPr/>
            <p:nvPr/>
          </p:nvSpPr>
          <p:spPr>
            <a:xfrm rot="10800000">
              <a:off x="710321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25"/>
          <p:cNvSpPr txBox="1"/>
          <p:nvPr>
            <p:ph type="title"/>
          </p:nvPr>
        </p:nvSpPr>
        <p:spPr>
          <a:xfrm>
            <a:off x="3940450" y="2009375"/>
            <a:ext cx="44745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solidFill>
                  <a:schemeClr val="lt1"/>
                </a:solidFill>
              </a:rPr>
              <a:t>Executive Summary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588" name="Google Shape;588;p25"/>
          <p:cNvSpPr txBox="1"/>
          <p:nvPr>
            <p:ph idx="2" type="title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01</a:t>
            </a:r>
            <a:endParaRPr b="1"/>
          </a:p>
        </p:txBody>
      </p:sp>
      <p:grpSp>
        <p:nvGrpSpPr>
          <p:cNvPr id="589" name="Google Shape;589;p25"/>
          <p:cNvGrpSpPr/>
          <p:nvPr/>
        </p:nvGrpSpPr>
        <p:grpSpPr>
          <a:xfrm>
            <a:off x="1254948" y="829025"/>
            <a:ext cx="2561448" cy="2522537"/>
            <a:chOff x="1254948" y="829025"/>
            <a:chExt cx="2561448" cy="2522537"/>
          </a:xfrm>
        </p:grpSpPr>
        <p:grpSp>
          <p:nvGrpSpPr>
            <p:cNvPr id="590" name="Google Shape;590;p25"/>
            <p:cNvGrpSpPr/>
            <p:nvPr/>
          </p:nvGrpSpPr>
          <p:grpSpPr>
            <a:xfrm flipH="1">
              <a:off x="1254948" y="3018091"/>
              <a:ext cx="882533" cy="333471"/>
              <a:chOff x="3551575" y="3215125"/>
              <a:chExt cx="389450" cy="147150"/>
            </a:xfrm>
          </p:grpSpPr>
          <p:sp>
            <p:nvSpPr>
              <p:cNvPr id="591" name="Google Shape;591;p25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5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5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25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5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5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5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5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5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5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5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5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5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5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5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5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5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5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5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5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5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3" name="Google Shape;613;p25"/>
            <p:cNvGrpSpPr/>
            <p:nvPr/>
          </p:nvGrpSpPr>
          <p:grpSpPr>
            <a:xfrm flipH="1">
              <a:off x="3094297" y="829025"/>
              <a:ext cx="722099" cy="407700"/>
              <a:chOff x="1211425" y="918075"/>
              <a:chExt cx="722099" cy="407700"/>
            </a:xfrm>
          </p:grpSpPr>
          <p:sp>
            <p:nvSpPr>
              <p:cNvPr id="614" name="Google Shape;614;p2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2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2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2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2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2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2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2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2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2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2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2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2" name="Google Shape;632;p25"/>
          <p:cNvGrpSpPr/>
          <p:nvPr/>
        </p:nvGrpSpPr>
        <p:grpSpPr>
          <a:xfrm>
            <a:off x="685904" y="-2339247"/>
            <a:ext cx="6632641" cy="10060256"/>
            <a:chOff x="685904" y="-2339247"/>
            <a:chExt cx="6632641" cy="10060256"/>
          </a:xfrm>
        </p:grpSpPr>
        <p:grpSp>
          <p:nvGrpSpPr>
            <p:cNvPr id="633" name="Google Shape;633;p25"/>
            <p:cNvGrpSpPr/>
            <p:nvPr/>
          </p:nvGrpSpPr>
          <p:grpSpPr>
            <a:xfrm rot="-5400000">
              <a:off x="1527805" y="-2612093"/>
              <a:ext cx="4530594" cy="5076286"/>
              <a:chOff x="4826000" y="4400753"/>
              <a:chExt cx="4530594" cy="5076286"/>
            </a:xfrm>
          </p:grpSpPr>
          <p:sp>
            <p:nvSpPr>
              <p:cNvPr id="634" name="Google Shape;634;p2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6" name="Google Shape;636;p25"/>
            <p:cNvGrpSpPr/>
            <p:nvPr/>
          </p:nvGrpSpPr>
          <p:grpSpPr>
            <a:xfrm flipH="1" rot="-2006149">
              <a:off x="4571687" y="-1036201"/>
              <a:ext cx="2324989" cy="2229599"/>
              <a:chOff x="5165475" y="-713653"/>
              <a:chExt cx="2324999" cy="2229609"/>
            </a:xfrm>
          </p:grpSpPr>
          <p:sp>
            <p:nvSpPr>
              <p:cNvPr id="637" name="Google Shape;637;p2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9" name="Google Shape;639;p25"/>
            <p:cNvGrpSpPr/>
            <p:nvPr/>
          </p:nvGrpSpPr>
          <p:grpSpPr>
            <a:xfrm flipH="1" rot="490164">
              <a:off x="911290" y="4092424"/>
              <a:ext cx="3324918" cy="3409649"/>
              <a:chOff x="7159200" y="2117361"/>
              <a:chExt cx="2271501" cy="2329387"/>
            </a:xfrm>
          </p:grpSpPr>
          <p:sp>
            <p:nvSpPr>
              <p:cNvPr id="640" name="Google Shape;640;p25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5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5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/>
          <p:nvPr/>
        </p:nvSpPr>
        <p:spPr>
          <a:xfrm>
            <a:off x="5823232" y="1327231"/>
            <a:ext cx="2608200" cy="260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48" name="Google Shape;648;p26"/>
          <p:cNvSpPr txBox="1"/>
          <p:nvPr>
            <p:ph type="title"/>
          </p:nvPr>
        </p:nvSpPr>
        <p:spPr>
          <a:xfrm>
            <a:off x="712568" y="561100"/>
            <a:ext cx="4307700" cy="13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Business Problem</a:t>
            </a:r>
            <a:endParaRPr sz="3000"/>
          </a:p>
        </p:txBody>
      </p:sp>
      <p:sp>
        <p:nvSpPr>
          <p:cNvPr id="649" name="Google Shape;649;p26"/>
          <p:cNvSpPr txBox="1"/>
          <p:nvPr>
            <p:ph idx="1" type="subTitle"/>
          </p:nvPr>
        </p:nvSpPr>
        <p:spPr>
          <a:xfrm>
            <a:off x="569700" y="1282296"/>
            <a:ext cx="4911600" cy="3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E-commerce wins are driven by early identification of high-potential products.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Predicting top performers within the first 7–14 days enables smarter promotions, inventory decisions, and seller support before demand peaks.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Our model uses early sales patterns to predict top 10% products using 60-day sales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50" name="Google Shape;650;p26" title="premium_photo-1684785618727-378a3a5e91c5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326" l="0" r="0" t="8326"/>
          <a:stretch/>
        </p:blipFill>
        <p:spPr>
          <a:xfrm>
            <a:off x="5763458" y="1274475"/>
            <a:ext cx="2608200" cy="26082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"/>
          <p:cNvSpPr/>
          <p:nvPr/>
        </p:nvSpPr>
        <p:spPr>
          <a:xfrm>
            <a:off x="5823232" y="1327231"/>
            <a:ext cx="2608200" cy="260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56" name="Google Shape;656;p27"/>
          <p:cNvSpPr txBox="1"/>
          <p:nvPr>
            <p:ph type="title"/>
          </p:nvPr>
        </p:nvSpPr>
        <p:spPr>
          <a:xfrm>
            <a:off x="712575" y="561100"/>
            <a:ext cx="4307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Motivation</a:t>
            </a:r>
            <a:endParaRPr sz="3000"/>
          </a:p>
        </p:txBody>
      </p:sp>
      <p:sp>
        <p:nvSpPr>
          <p:cNvPr id="657" name="Google Shape;657;p27"/>
          <p:cNvSpPr txBox="1"/>
          <p:nvPr>
            <p:ph idx="1" type="subTitle"/>
          </p:nvPr>
        </p:nvSpPr>
        <p:spPr>
          <a:xfrm>
            <a:off x="554900" y="1189275"/>
            <a:ext cx="5043300" cy="3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Identification of early momentum patterns and segments products by trajectory (trending vs late-bloomer).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Helps optimize marketing spend, inventory allocation, and product lifecycle strategy.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Supports marketing, inventory, and marketplace teams with smarter promotions, fewer stockouts, and better seller guidance.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58" name="Google Shape;658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75" r="16675" t="0"/>
          <a:stretch/>
        </p:blipFill>
        <p:spPr>
          <a:xfrm>
            <a:off x="5763458" y="1274475"/>
            <a:ext cx="2608200" cy="26082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8"/>
          <p:cNvSpPr/>
          <p:nvPr/>
        </p:nvSpPr>
        <p:spPr>
          <a:xfrm>
            <a:off x="5823232" y="1327231"/>
            <a:ext cx="2608200" cy="260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64" name="Google Shape;664;p28"/>
          <p:cNvSpPr txBox="1"/>
          <p:nvPr>
            <p:ph type="title"/>
          </p:nvPr>
        </p:nvSpPr>
        <p:spPr>
          <a:xfrm>
            <a:off x="712575" y="561100"/>
            <a:ext cx="4307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Datasource</a:t>
            </a:r>
            <a:endParaRPr sz="3000"/>
          </a:p>
        </p:txBody>
      </p:sp>
      <p:sp>
        <p:nvSpPr>
          <p:cNvPr id="665" name="Google Shape;665;p28"/>
          <p:cNvSpPr txBox="1"/>
          <p:nvPr>
            <p:ph idx="1" type="subTitle"/>
          </p:nvPr>
        </p:nvSpPr>
        <p:spPr>
          <a:xfrm>
            <a:off x="574625" y="1318239"/>
            <a:ext cx="5188800" cy="3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Real transaction data from Olist, Brazil’s largest marketplace, spanning Oct 2016 – Sep 2018.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Includes product listings, orders, payments, shipping details, and customer reviews.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Represents activity from small businesses selling across multiple Brazilian marketplaces.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Data Size ~ 113,000 records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   ~ 50+ columns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66" name="Google Shape;666;p28" title="pngtree-ecommerce-website-with-shopping-cart-with-the-shopping-cart-on-a-image_2975658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370" l="16301" r="27604" t="1370"/>
          <a:stretch/>
        </p:blipFill>
        <p:spPr>
          <a:xfrm>
            <a:off x="5763458" y="1274475"/>
            <a:ext cx="2608200" cy="26082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29"/>
          <p:cNvGrpSpPr/>
          <p:nvPr/>
        </p:nvGrpSpPr>
        <p:grpSpPr>
          <a:xfrm>
            <a:off x="713223" y="368238"/>
            <a:ext cx="7917558" cy="4407033"/>
            <a:chOff x="713223" y="368238"/>
            <a:chExt cx="7917558" cy="4407033"/>
          </a:xfrm>
        </p:grpSpPr>
        <p:sp>
          <p:nvSpPr>
            <p:cNvPr id="672" name="Google Shape;672;p29"/>
            <p:cNvSpPr/>
            <p:nvPr/>
          </p:nvSpPr>
          <p:spPr>
            <a:xfrm rot="10800000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 rot="10800000">
              <a:off x="713223" y="24002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4" name="Google Shape;674;p29"/>
          <p:cNvSpPr txBox="1"/>
          <p:nvPr>
            <p:ph type="title"/>
          </p:nvPr>
        </p:nvSpPr>
        <p:spPr>
          <a:xfrm>
            <a:off x="3545639" y="1572447"/>
            <a:ext cx="49200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lt1"/>
                </a:solidFill>
              </a:rPr>
              <a:t>Exploratory </a:t>
            </a:r>
            <a:endParaRPr sz="57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lt1"/>
                </a:solidFill>
              </a:rPr>
              <a:t>Data </a:t>
            </a:r>
            <a:endParaRPr sz="57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lt1"/>
                </a:solidFill>
              </a:rPr>
              <a:t>Analysis</a:t>
            </a:r>
            <a:endParaRPr sz="5700">
              <a:solidFill>
                <a:schemeClr val="lt1"/>
              </a:solidFill>
            </a:endParaRPr>
          </a:p>
        </p:txBody>
      </p:sp>
      <p:grpSp>
        <p:nvGrpSpPr>
          <p:cNvPr id="675" name="Google Shape;675;p29"/>
          <p:cNvGrpSpPr/>
          <p:nvPr/>
        </p:nvGrpSpPr>
        <p:grpSpPr>
          <a:xfrm>
            <a:off x="713230" y="1437717"/>
            <a:ext cx="7113095" cy="3166295"/>
            <a:chOff x="713230" y="1437717"/>
            <a:chExt cx="7113095" cy="3166295"/>
          </a:xfrm>
        </p:grpSpPr>
        <p:grpSp>
          <p:nvGrpSpPr>
            <p:cNvPr id="676" name="Google Shape;676;p29"/>
            <p:cNvGrpSpPr/>
            <p:nvPr/>
          </p:nvGrpSpPr>
          <p:grpSpPr>
            <a:xfrm>
              <a:off x="713230" y="4270541"/>
              <a:ext cx="882533" cy="333471"/>
              <a:chOff x="3551575" y="3215125"/>
              <a:chExt cx="389450" cy="147150"/>
            </a:xfrm>
          </p:grpSpPr>
          <p:sp>
            <p:nvSpPr>
              <p:cNvPr id="677" name="Google Shape;677;p2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2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2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2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2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2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2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9" name="Google Shape;699;p29"/>
            <p:cNvGrpSpPr/>
            <p:nvPr/>
          </p:nvGrpSpPr>
          <p:grpSpPr>
            <a:xfrm>
              <a:off x="7104225" y="1437717"/>
              <a:ext cx="722099" cy="407700"/>
              <a:chOff x="1211425" y="918075"/>
              <a:chExt cx="722099" cy="407700"/>
            </a:xfrm>
          </p:grpSpPr>
          <p:sp>
            <p:nvSpPr>
              <p:cNvPr id="700" name="Google Shape;700;p2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2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2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2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2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2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2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2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2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2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8" name="Google Shape;718;p29"/>
          <p:cNvGrpSpPr/>
          <p:nvPr/>
        </p:nvGrpSpPr>
        <p:grpSpPr>
          <a:xfrm>
            <a:off x="-2345656" y="-1320018"/>
            <a:ext cx="8780562" cy="9003051"/>
            <a:chOff x="-2345656" y="-1320018"/>
            <a:chExt cx="8780562" cy="9003051"/>
          </a:xfrm>
        </p:grpSpPr>
        <p:grpSp>
          <p:nvGrpSpPr>
            <p:cNvPr id="719" name="Google Shape;719;p29"/>
            <p:cNvGrpSpPr/>
            <p:nvPr/>
          </p:nvGrpSpPr>
          <p:grpSpPr>
            <a:xfrm rot="-4179191">
              <a:off x="1000180" y="-881268"/>
              <a:ext cx="2324987" cy="2229597"/>
              <a:chOff x="5165475" y="-713653"/>
              <a:chExt cx="2324999" cy="2229609"/>
            </a:xfrm>
          </p:grpSpPr>
          <p:sp>
            <p:nvSpPr>
              <p:cNvPr id="720" name="Google Shape;720;p2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2" name="Google Shape;722;p29"/>
            <p:cNvGrpSpPr/>
            <p:nvPr/>
          </p:nvGrpSpPr>
          <p:grpSpPr>
            <a:xfrm rot="-1541492">
              <a:off x="2535099" y="3721048"/>
              <a:ext cx="3325047" cy="3409781"/>
              <a:chOff x="7159200" y="2117361"/>
              <a:chExt cx="2271501" cy="2329387"/>
            </a:xfrm>
          </p:grpSpPr>
          <p:sp>
            <p:nvSpPr>
              <p:cNvPr id="723" name="Google Shape;723;p29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-2345656" y="-1320018"/>
              <a:ext cx="4530594" cy="5076286"/>
              <a:chOff x="4826000" y="4400753"/>
              <a:chExt cx="4530594" cy="5076286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9" name="Google Shape;729;p29"/>
          <p:cNvSpPr txBox="1"/>
          <p:nvPr>
            <p:ph idx="4294967295" type="title"/>
          </p:nvPr>
        </p:nvSpPr>
        <p:spPr>
          <a:xfrm>
            <a:off x="7020565" y="368254"/>
            <a:ext cx="1152300" cy="974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0</a:t>
            </a:r>
            <a:r>
              <a:rPr lang="en" sz="6000">
                <a:solidFill>
                  <a:schemeClr val="lt1"/>
                </a:solidFill>
              </a:rPr>
              <a:t>2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Google Shape;7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38" y="513877"/>
            <a:ext cx="3329775" cy="25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200" y="515414"/>
            <a:ext cx="3329775" cy="2502702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30"/>
          <p:cNvSpPr txBox="1"/>
          <p:nvPr/>
        </p:nvSpPr>
        <p:spPr>
          <a:xfrm>
            <a:off x="-34125" y="3279400"/>
            <a:ext cx="4820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E-commerce follows a Classic Pareto pattern (80/20).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Only 20% of products generate ~80% of total revenue, meaning revenue is highly concentrated among a small set of winners.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Most products contribute very little, while a few high performers drive the business.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7" name="Google Shape;737;p30"/>
          <p:cNvSpPr txBox="1"/>
          <p:nvPr/>
        </p:nvSpPr>
        <p:spPr>
          <a:xfrm>
            <a:off x="4690200" y="3279400"/>
            <a:ext cx="445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Demonstrates how well early sales (first 7 days) predict long-term success (60-day units).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blue line (ranked by early momentum) is well above the orange random baseline.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means products that sell well in the first week disproportionately make up later sales.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825" y="336951"/>
            <a:ext cx="59436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825" y="2718950"/>
            <a:ext cx="5943600" cy="24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31"/>
          <p:cNvSpPr txBox="1"/>
          <p:nvPr/>
        </p:nvSpPr>
        <p:spPr>
          <a:xfrm>
            <a:off x="6660925" y="403706"/>
            <a:ext cx="240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Top 10 Product Categories by Total Revenue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5" name="Google Shape;745;p31"/>
          <p:cNvSpPr txBox="1"/>
          <p:nvPr/>
        </p:nvSpPr>
        <p:spPr>
          <a:xfrm>
            <a:off x="6591950" y="898706"/>
            <a:ext cx="24042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Demonstrates which product categories drives  the most revenue on the platform.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Categories like beleza_saude and relogios_presentes dominate revenue, suggesting higher price points or premium demand.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Lower-revenue categories still sell but may rely more on volume or lower margins.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6" name="Google Shape;746;p31"/>
          <p:cNvSpPr txBox="1"/>
          <p:nvPr/>
        </p:nvSpPr>
        <p:spPr>
          <a:xfrm>
            <a:off x="6651050" y="2825700"/>
            <a:ext cx="22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Top 10 Fastest-Selling Categories by Units Sold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7" name="Google Shape;747;p31"/>
          <p:cNvSpPr txBox="1"/>
          <p:nvPr/>
        </p:nvSpPr>
        <p:spPr>
          <a:xfrm>
            <a:off x="6621475" y="3380286"/>
            <a:ext cx="2483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Demonstrates</a:t>
            </a: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which categories sell the largest number of units, regardless of price.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Categories like cama_mesa_banho and moveis_decoracao lead in volume, meaning they have high demand and steady turnover.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These may generate lower revenue per item but depend on mass purchasing behavior.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oogle Shape;752;p3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753" name="Google Shape;753;p32"/>
            <p:cNvSpPr/>
            <p:nvPr/>
          </p:nvSpPr>
          <p:spPr>
            <a:xfrm>
              <a:off x="527100" y="368100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5" name="Google Shape;755;p3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756" name="Google Shape;756;p3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9" name="Google Shape;759;p3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760" name="Google Shape;760;p3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2" name="Google Shape;762;p3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763" name="Google Shape;763;p3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6" name="Google Shape;766;p32"/>
          <p:cNvSpPr txBox="1"/>
          <p:nvPr>
            <p:ph type="title"/>
          </p:nvPr>
        </p:nvSpPr>
        <p:spPr>
          <a:xfrm>
            <a:off x="901613" y="1847944"/>
            <a:ext cx="40005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Modeling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67" name="Google Shape;767;p32"/>
          <p:cNvGrpSpPr/>
          <p:nvPr/>
        </p:nvGrpSpPr>
        <p:grpSpPr>
          <a:xfrm>
            <a:off x="3873600" y="800425"/>
            <a:ext cx="2828875" cy="3790212"/>
            <a:chOff x="3873600" y="800425"/>
            <a:chExt cx="2828875" cy="3790212"/>
          </a:xfrm>
        </p:grpSpPr>
        <p:grpSp>
          <p:nvGrpSpPr>
            <p:cNvPr id="768" name="Google Shape;768;p3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769" name="Google Shape;769;p3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3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3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3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3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3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1" name="Google Shape;791;p32"/>
            <p:cNvGrpSpPr/>
            <p:nvPr/>
          </p:nvGrpSpPr>
          <p:grpSpPr>
            <a:xfrm>
              <a:off x="3873600" y="800425"/>
              <a:ext cx="722099" cy="407700"/>
              <a:chOff x="1211425" y="918075"/>
              <a:chExt cx="722099" cy="407700"/>
            </a:xfrm>
          </p:grpSpPr>
          <p:sp>
            <p:nvSpPr>
              <p:cNvPr id="792" name="Google Shape;792;p3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3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3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0" name="Google Shape;810;p32"/>
          <p:cNvSpPr txBox="1"/>
          <p:nvPr>
            <p:ph idx="4294967295" type="title"/>
          </p:nvPr>
        </p:nvSpPr>
        <p:spPr>
          <a:xfrm>
            <a:off x="1091815" y="745769"/>
            <a:ext cx="1152300" cy="974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0</a:t>
            </a:r>
            <a:r>
              <a:rPr lang="en" sz="6000">
                <a:solidFill>
                  <a:schemeClr val="lt1"/>
                </a:solidFill>
              </a:rPr>
              <a:t>3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3"/>
          <p:cNvSpPr txBox="1"/>
          <p:nvPr>
            <p:ph type="title"/>
          </p:nvPr>
        </p:nvSpPr>
        <p:spPr>
          <a:xfrm>
            <a:off x="713225" y="374696"/>
            <a:ext cx="20754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/>
              <a:t>Modeling</a:t>
            </a:r>
            <a:endParaRPr b="1"/>
          </a:p>
        </p:txBody>
      </p:sp>
      <p:sp>
        <p:nvSpPr>
          <p:cNvPr id="816" name="Google Shape;816;p33"/>
          <p:cNvSpPr txBox="1"/>
          <p:nvPr>
            <p:ph idx="1" type="subTitle"/>
          </p:nvPr>
        </p:nvSpPr>
        <p:spPr>
          <a:xfrm>
            <a:off x="1427212" y="1503856"/>
            <a:ext cx="33330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000">
                <a:latin typeface="Poppins Medium"/>
                <a:ea typeface="Poppins Medium"/>
                <a:cs typeface="Poppins Medium"/>
                <a:sym typeface="Poppins Medium"/>
              </a:rPr>
              <a:t>Data Preparation</a:t>
            </a:r>
            <a:endParaRPr sz="20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7" name="Google Shape;817;p33"/>
          <p:cNvSpPr txBox="1"/>
          <p:nvPr>
            <p:ph idx="2" type="subTitle"/>
          </p:nvPr>
        </p:nvSpPr>
        <p:spPr>
          <a:xfrm>
            <a:off x="1343084" y="1933656"/>
            <a:ext cx="2975700" cy="10833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Merging of the 7 datasets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Filtered the new products with full 60 day windows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Made key features based on the existing variables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8" name="Google Shape;818;p33"/>
          <p:cNvSpPr txBox="1"/>
          <p:nvPr>
            <p:ph idx="3" type="subTitle"/>
          </p:nvPr>
        </p:nvSpPr>
        <p:spPr>
          <a:xfrm>
            <a:off x="5224294" y="1490356"/>
            <a:ext cx="29889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000">
                <a:latin typeface="Poppins Medium"/>
                <a:ea typeface="Poppins Medium"/>
                <a:cs typeface="Poppins Medium"/>
                <a:sym typeface="Poppins Medium"/>
              </a:rPr>
              <a:t>Target Definition</a:t>
            </a:r>
            <a:endParaRPr sz="20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9" name="Google Shape;819;p33"/>
          <p:cNvSpPr txBox="1"/>
          <p:nvPr>
            <p:ph idx="4" type="subTitle"/>
          </p:nvPr>
        </p:nvSpPr>
        <p:spPr>
          <a:xfrm>
            <a:off x="5077345" y="1920181"/>
            <a:ext cx="3773700" cy="1008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Defined Top 10% products by 60-day units as “successful”.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Introduced momentum segmentation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Trending Front Loaded ( early spike -&gt; flatten)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Late Bloomers (slow start -&gt; accelerates)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33"/>
          <p:cNvSpPr txBox="1"/>
          <p:nvPr>
            <p:ph idx="5" type="subTitle"/>
          </p:nvPr>
        </p:nvSpPr>
        <p:spPr>
          <a:xfrm>
            <a:off x="1433705" y="3440167"/>
            <a:ext cx="1555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000"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20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21" name="Google Shape;821;p33"/>
          <p:cNvSpPr txBox="1"/>
          <p:nvPr>
            <p:ph idx="6" type="subTitle"/>
          </p:nvPr>
        </p:nvSpPr>
        <p:spPr>
          <a:xfrm>
            <a:off x="1329325" y="3879818"/>
            <a:ext cx="3578400" cy="10833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Trained multiple ML models: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Logistic Regression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Gradient Boosting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Tuned hyperparameters for best precision on early winners.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33"/>
          <p:cNvSpPr txBox="1"/>
          <p:nvPr>
            <p:ph idx="13" type="subTitle"/>
          </p:nvPr>
        </p:nvSpPr>
        <p:spPr>
          <a:xfrm>
            <a:off x="5072671" y="4048139"/>
            <a:ext cx="24942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80/20 split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The positive class ~15%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33"/>
          <p:cNvSpPr txBox="1"/>
          <p:nvPr>
            <p:ph idx="9" type="subTitle"/>
          </p:nvPr>
        </p:nvSpPr>
        <p:spPr>
          <a:xfrm>
            <a:off x="5216466" y="3588776"/>
            <a:ext cx="3131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000">
                <a:latin typeface="Poppins Medium"/>
                <a:ea typeface="Poppins Medium"/>
                <a:cs typeface="Poppins Medium"/>
                <a:sym typeface="Poppins Medium"/>
              </a:rPr>
              <a:t>Train/Test Strategy</a:t>
            </a:r>
            <a:endParaRPr sz="20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24" name="Google Shape;824;p3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25" name="Google Shape;825;p33"/>
          <p:cNvGrpSpPr/>
          <p:nvPr/>
        </p:nvGrpSpPr>
        <p:grpSpPr>
          <a:xfrm>
            <a:off x="5328163" y="1116556"/>
            <a:ext cx="343990" cy="348731"/>
            <a:chOff x="1221250" y="238125"/>
            <a:chExt cx="5157275" cy="5228350"/>
          </a:xfrm>
        </p:grpSpPr>
        <p:sp>
          <p:nvSpPr>
            <p:cNvPr id="826" name="Google Shape;826;p33"/>
            <p:cNvSpPr/>
            <p:nvPr/>
          </p:nvSpPr>
          <p:spPr>
            <a:xfrm>
              <a:off x="1392200" y="820200"/>
              <a:ext cx="1362100" cy="1362100"/>
            </a:xfrm>
            <a:custGeom>
              <a:rect b="b" l="l" r="r" t="t"/>
              <a:pathLst>
                <a:path extrusionOk="0" h="54484" w="54484">
                  <a:moveTo>
                    <a:pt x="27254" y="0"/>
                  </a:moveTo>
                  <a:cubicBezTo>
                    <a:pt x="12230" y="0"/>
                    <a:pt x="0" y="12230"/>
                    <a:pt x="0" y="27254"/>
                  </a:cubicBezTo>
                  <a:cubicBezTo>
                    <a:pt x="0" y="42278"/>
                    <a:pt x="12230" y="54483"/>
                    <a:pt x="27254" y="54483"/>
                  </a:cubicBezTo>
                  <a:cubicBezTo>
                    <a:pt x="42278" y="54483"/>
                    <a:pt x="54483" y="42278"/>
                    <a:pt x="54483" y="27254"/>
                  </a:cubicBezTo>
                  <a:cubicBezTo>
                    <a:pt x="54483" y="12230"/>
                    <a:pt x="42278" y="0"/>
                    <a:pt x="27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3477900" y="238125"/>
              <a:ext cx="2900625" cy="5228350"/>
            </a:xfrm>
            <a:custGeom>
              <a:rect b="b" l="l" r="r" t="t"/>
              <a:pathLst>
                <a:path extrusionOk="0" h="209134" w="116025">
                  <a:moveTo>
                    <a:pt x="6127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203006"/>
                  </a:lnTo>
                  <a:cubicBezTo>
                    <a:pt x="0" y="206388"/>
                    <a:pt x="2745" y="209133"/>
                    <a:pt x="6127" y="209133"/>
                  </a:cubicBezTo>
                  <a:cubicBezTo>
                    <a:pt x="9510" y="209133"/>
                    <a:pt x="12255" y="206388"/>
                    <a:pt x="12255" y="203006"/>
                  </a:cubicBezTo>
                  <a:lnTo>
                    <a:pt x="12255" y="87325"/>
                  </a:lnTo>
                  <a:cubicBezTo>
                    <a:pt x="18388" y="90038"/>
                    <a:pt x="24544" y="91267"/>
                    <a:pt x="30740" y="91267"/>
                  </a:cubicBezTo>
                  <a:cubicBezTo>
                    <a:pt x="31203" y="91267"/>
                    <a:pt x="31667" y="91260"/>
                    <a:pt x="32131" y="91246"/>
                  </a:cubicBezTo>
                  <a:cubicBezTo>
                    <a:pt x="41837" y="90928"/>
                    <a:pt x="51395" y="87619"/>
                    <a:pt x="61027" y="82178"/>
                  </a:cubicBezTo>
                  <a:cubicBezTo>
                    <a:pt x="68331" y="78036"/>
                    <a:pt x="75757" y="76100"/>
                    <a:pt x="83208" y="76100"/>
                  </a:cubicBezTo>
                  <a:cubicBezTo>
                    <a:pt x="91001" y="76100"/>
                    <a:pt x="98893" y="78207"/>
                    <a:pt x="106760" y="82129"/>
                  </a:cubicBezTo>
                  <a:cubicBezTo>
                    <a:pt x="107667" y="82668"/>
                    <a:pt x="108746" y="82987"/>
                    <a:pt x="109898" y="82987"/>
                  </a:cubicBezTo>
                  <a:cubicBezTo>
                    <a:pt x="113280" y="82987"/>
                    <a:pt x="116025" y="80242"/>
                    <a:pt x="116025" y="76860"/>
                  </a:cubicBezTo>
                  <a:lnTo>
                    <a:pt x="116025" y="16764"/>
                  </a:lnTo>
                  <a:lnTo>
                    <a:pt x="116000" y="16764"/>
                  </a:lnTo>
                  <a:cubicBezTo>
                    <a:pt x="116000" y="14828"/>
                    <a:pt x="115093" y="12941"/>
                    <a:pt x="113378" y="11764"/>
                  </a:cubicBezTo>
                  <a:cubicBezTo>
                    <a:pt x="104034" y="5224"/>
                    <a:pt x="94713" y="2357"/>
                    <a:pt x="85287" y="2357"/>
                  </a:cubicBezTo>
                  <a:cubicBezTo>
                    <a:pt x="84823" y="2357"/>
                    <a:pt x="84358" y="2364"/>
                    <a:pt x="83894" y="2377"/>
                  </a:cubicBezTo>
                  <a:cubicBezTo>
                    <a:pt x="74188" y="2671"/>
                    <a:pt x="64630" y="6005"/>
                    <a:pt x="54998" y="11446"/>
                  </a:cubicBezTo>
                  <a:cubicBezTo>
                    <a:pt x="47694" y="15588"/>
                    <a:pt x="40268" y="17524"/>
                    <a:pt x="32817" y="17524"/>
                  </a:cubicBezTo>
                  <a:cubicBezTo>
                    <a:pt x="26004" y="17524"/>
                    <a:pt x="19142" y="15906"/>
                    <a:pt x="12255" y="12892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1221250" y="2464125"/>
              <a:ext cx="1950300" cy="3002350"/>
            </a:xfrm>
            <a:custGeom>
              <a:rect b="b" l="l" r="r" t="t"/>
              <a:pathLst>
                <a:path extrusionOk="0" h="120094" w="78012">
                  <a:moveTo>
                    <a:pt x="17671" y="0"/>
                  </a:moveTo>
                  <a:cubicBezTo>
                    <a:pt x="8113" y="0"/>
                    <a:pt x="0" y="7990"/>
                    <a:pt x="0" y="17573"/>
                  </a:cubicBezTo>
                  <a:lnTo>
                    <a:pt x="0" y="54532"/>
                  </a:lnTo>
                  <a:cubicBezTo>
                    <a:pt x="0" y="61297"/>
                    <a:pt x="3848" y="67228"/>
                    <a:pt x="9608" y="70169"/>
                  </a:cubicBezTo>
                  <a:lnTo>
                    <a:pt x="9632" y="113966"/>
                  </a:lnTo>
                  <a:cubicBezTo>
                    <a:pt x="9632" y="117348"/>
                    <a:pt x="12377" y="120093"/>
                    <a:pt x="15760" y="120093"/>
                  </a:cubicBezTo>
                  <a:lnTo>
                    <a:pt x="52278" y="120093"/>
                  </a:lnTo>
                  <a:cubicBezTo>
                    <a:pt x="55660" y="120093"/>
                    <a:pt x="58405" y="117348"/>
                    <a:pt x="58405" y="113966"/>
                  </a:cubicBezTo>
                  <a:lnTo>
                    <a:pt x="58405" y="36764"/>
                  </a:lnTo>
                  <a:lnTo>
                    <a:pt x="78012" y="36764"/>
                  </a:lnTo>
                  <a:lnTo>
                    <a:pt x="78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29" name="Google Shape;829;p33"/>
          <p:cNvGrpSpPr/>
          <p:nvPr/>
        </p:nvGrpSpPr>
        <p:grpSpPr>
          <a:xfrm>
            <a:off x="1580079" y="3226050"/>
            <a:ext cx="356187" cy="345912"/>
            <a:chOff x="3980000" y="3218789"/>
            <a:chExt cx="353571" cy="350291"/>
          </a:xfrm>
        </p:grpSpPr>
        <p:sp>
          <p:nvSpPr>
            <p:cNvPr id="830" name="Google Shape;830;p33"/>
            <p:cNvSpPr/>
            <p:nvPr/>
          </p:nvSpPr>
          <p:spPr>
            <a:xfrm>
              <a:off x="3980000" y="3502447"/>
              <a:ext cx="89627" cy="66633"/>
            </a:xfrm>
            <a:custGeom>
              <a:rect b="b" l="l" r="r" t="t"/>
              <a:pathLst>
                <a:path extrusionOk="0" h="1930" w="2596">
                  <a:moveTo>
                    <a:pt x="2286" y="1"/>
                  </a:moveTo>
                  <a:lnTo>
                    <a:pt x="310" y="1"/>
                  </a:lnTo>
                  <a:cubicBezTo>
                    <a:pt x="119" y="1"/>
                    <a:pt x="0" y="120"/>
                    <a:pt x="0" y="310"/>
                  </a:cubicBezTo>
                  <a:lnTo>
                    <a:pt x="0" y="1644"/>
                  </a:lnTo>
                  <a:cubicBezTo>
                    <a:pt x="0" y="1811"/>
                    <a:pt x="119" y="1930"/>
                    <a:pt x="310" y="1930"/>
                  </a:cubicBezTo>
                  <a:lnTo>
                    <a:pt x="2286" y="1930"/>
                  </a:lnTo>
                  <a:cubicBezTo>
                    <a:pt x="2477" y="1930"/>
                    <a:pt x="2596" y="1811"/>
                    <a:pt x="2596" y="1644"/>
                  </a:cubicBezTo>
                  <a:lnTo>
                    <a:pt x="2596" y="310"/>
                  </a:lnTo>
                  <a:cubicBezTo>
                    <a:pt x="2596" y="144"/>
                    <a:pt x="2453" y="1"/>
                    <a:pt x="2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4090169" y="3439163"/>
              <a:ext cx="89661" cy="129918"/>
            </a:xfrm>
            <a:custGeom>
              <a:rect b="b" l="l" r="r" t="t"/>
              <a:pathLst>
                <a:path extrusionOk="0" h="3763" w="2597">
                  <a:moveTo>
                    <a:pt x="2287" y="0"/>
                  </a:moveTo>
                  <a:lnTo>
                    <a:pt x="286" y="0"/>
                  </a:lnTo>
                  <a:cubicBezTo>
                    <a:pt x="119" y="0"/>
                    <a:pt x="0" y="119"/>
                    <a:pt x="0" y="286"/>
                  </a:cubicBezTo>
                  <a:lnTo>
                    <a:pt x="0" y="3477"/>
                  </a:lnTo>
                  <a:cubicBezTo>
                    <a:pt x="0" y="3644"/>
                    <a:pt x="119" y="3763"/>
                    <a:pt x="286" y="3763"/>
                  </a:cubicBezTo>
                  <a:lnTo>
                    <a:pt x="2287" y="3763"/>
                  </a:lnTo>
                  <a:cubicBezTo>
                    <a:pt x="2477" y="3763"/>
                    <a:pt x="2596" y="3644"/>
                    <a:pt x="2596" y="3477"/>
                  </a:cubicBezTo>
                  <a:lnTo>
                    <a:pt x="2596" y="286"/>
                  </a:lnTo>
                  <a:cubicBezTo>
                    <a:pt x="2596" y="143"/>
                    <a:pt x="2429" y="0"/>
                    <a:pt x="2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4200338" y="3344599"/>
              <a:ext cx="131575" cy="224482"/>
            </a:xfrm>
            <a:custGeom>
              <a:rect b="b" l="l" r="r" t="t"/>
              <a:pathLst>
                <a:path extrusionOk="0" h="6502" w="3811">
                  <a:moveTo>
                    <a:pt x="3501" y="0"/>
                  </a:moveTo>
                  <a:lnTo>
                    <a:pt x="286" y="0"/>
                  </a:lnTo>
                  <a:cubicBezTo>
                    <a:pt x="120" y="0"/>
                    <a:pt x="0" y="119"/>
                    <a:pt x="0" y="286"/>
                  </a:cubicBezTo>
                  <a:lnTo>
                    <a:pt x="0" y="6216"/>
                  </a:lnTo>
                  <a:cubicBezTo>
                    <a:pt x="0" y="6383"/>
                    <a:pt x="120" y="6502"/>
                    <a:pt x="286" y="6502"/>
                  </a:cubicBezTo>
                  <a:lnTo>
                    <a:pt x="3501" y="6502"/>
                  </a:lnTo>
                  <a:cubicBezTo>
                    <a:pt x="3692" y="6502"/>
                    <a:pt x="3811" y="6383"/>
                    <a:pt x="3811" y="6216"/>
                  </a:cubicBezTo>
                  <a:lnTo>
                    <a:pt x="3811" y="286"/>
                  </a:lnTo>
                  <a:cubicBezTo>
                    <a:pt x="3811" y="119"/>
                    <a:pt x="3644" y="0"/>
                    <a:pt x="3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3980000" y="3218789"/>
              <a:ext cx="353571" cy="214642"/>
            </a:xfrm>
            <a:custGeom>
              <a:rect b="b" l="l" r="r" t="t"/>
              <a:pathLst>
                <a:path extrusionOk="0" h="6217" w="10241">
                  <a:moveTo>
                    <a:pt x="453" y="6145"/>
                  </a:moveTo>
                  <a:lnTo>
                    <a:pt x="9312" y="1096"/>
                  </a:lnTo>
                  <a:lnTo>
                    <a:pt x="9050" y="1858"/>
                  </a:lnTo>
                  <a:cubicBezTo>
                    <a:pt x="9002" y="2001"/>
                    <a:pt x="9074" y="2168"/>
                    <a:pt x="9240" y="2239"/>
                  </a:cubicBezTo>
                  <a:cubicBezTo>
                    <a:pt x="9383" y="2287"/>
                    <a:pt x="9550" y="2216"/>
                    <a:pt x="9621" y="2049"/>
                  </a:cubicBezTo>
                  <a:lnTo>
                    <a:pt x="10193" y="549"/>
                  </a:lnTo>
                  <a:cubicBezTo>
                    <a:pt x="10240" y="358"/>
                    <a:pt x="10121" y="144"/>
                    <a:pt x="9955" y="144"/>
                  </a:cubicBezTo>
                  <a:lnTo>
                    <a:pt x="8335" y="1"/>
                  </a:lnTo>
                  <a:cubicBezTo>
                    <a:pt x="8192" y="1"/>
                    <a:pt x="8049" y="120"/>
                    <a:pt x="8002" y="263"/>
                  </a:cubicBezTo>
                  <a:cubicBezTo>
                    <a:pt x="8002" y="406"/>
                    <a:pt x="8121" y="572"/>
                    <a:pt x="8288" y="596"/>
                  </a:cubicBezTo>
                  <a:lnTo>
                    <a:pt x="8931" y="644"/>
                  </a:lnTo>
                  <a:lnTo>
                    <a:pt x="191" y="5621"/>
                  </a:lnTo>
                  <a:cubicBezTo>
                    <a:pt x="24" y="5716"/>
                    <a:pt x="0" y="5883"/>
                    <a:pt x="72" y="6050"/>
                  </a:cubicBezTo>
                  <a:cubicBezTo>
                    <a:pt x="119" y="6169"/>
                    <a:pt x="310" y="6216"/>
                    <a:pt x="453" y="61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34" name="Google Shape;834;p33"/>
          <p:cNvGrpSpPr/>
          <p:nvPr/>
        </p:nvGrpSpPr>
        <p:grpSpPr>
          <a:xfrm>
            <a:off x="5328721" y="3221943"/>
            <a:ext cx="350143" cy="351014"/>
            <a:chOff x="5858069" y="1156071"/>
            <a:chExt cx="350143" cy="351014"/>
          </a:xfrm>
        </p:grpSpPr>
        <p:sp>
          <p:nvSpPr>
            <p:cNvPr id="835" name="Google Shape;835;p33"/>
            <p:cNvSpPr/>
            <p:nvPr/>
          </p:nvSpPr>
          <p:spPr>
            <a:xfrm>
              <a:off x="5859962" y="1156071"/>
              <a:ext cx="263208" cy="80264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5858069" y="1226839"/>
              <a:ext cx="266994" cy="93756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5980973" y="1279847"/>
              <a:ext cx="227238" cy="227238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5858069" y="1310138"/>
              <a:ext cx="113619" cy="91863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5858069" y="1391573"/>
              <a:ext cx="162871" cy="114581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40" name="Google Shape;840;p33"/>
          <p:cNvSpPr/>
          <p:nvPr/>
        </p:nvSpPr>
        <p:spPr>
          <a:xfrm flipH="1">
            <a:off x="5005406" y="3266723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1" name="Google Shape;841;p33"/>
          <p:cNvSpPr/>
          <p:nvPr/>
        </p:nvSpPr>
        <p:spPr>
          <a:xfrm flipH="1">
            <a:off x="5005372" y="1156360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2" name="Google Shape;842;p33"/>
          <p:cNvSpPr/>
          <p:nvPr/>
        </p:nvSpPr>
        <p:spPr>
          <a:xfrm flipH="1">
            <a:off x="1229949" y="1160875"/>
            <a:ext cx="15649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3" name="Google Shape;843;p33"/>
          <p:cNvSpPr/>
          <p:nvPr/>
        </p:nvSpPr>
        <p:spPr>
          <a:xfrm flipH="1">
            <a:off x="1227446" y="3255459"/>
            <a:ext cx="15649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44" name="Google Shape;844;p33"/>
          <p:cNvGrpSpPr/>
          <p:nvPr/>
        </p:nvGrpSpPr>
        <p:grpSpPr>
          <a:xfrm>
            <a:off x="1593780" y="1116569"/>
            <a:ext cx="254140" cy="351119"/>
            <a:chOff x="3240026" y="2046355"/>
            <a:chExt cx="249132" cy="351119"/>
          </a:xfrm>
        </p:grpSpPr>
        <p:sp>
          <p:nvSpPr>
            <p:cNvPr id="845" name="Google Shape;845;p33"/>
            <p:cNvSpPr/>
            <p:nvPr/>
          </p:nvSpPr>
          <p:spPr>
            <a:xfrm>
              <a:off x="3240025" y="2356320"/>
              <a:ext cx="247510" cy="41154"/>
            </a:xfrm>
            <a:custGeom>
              <a:rect b="b" l="l" r="r" t="t"/>
              <a:pathLst>
                <a:path extrusionOk="0" h="1192" w="7169">
                  <a:moveTo>
                    <a:pt x="0" y="905"/>
                  </a:moveTo>
                  <a:cubicBezTo>
                    <a:pt x="0" y="1072"/>
                    <a:pt x="119" y="1191"/>
                    <a:pt x="310" y="1191"/>
                  </a:cubicBezTo>
                  <a:lnTo>
                    <a:pt x="6883" y="1191"/>
                  </a:lnTo>
                  <a:cubicBezTo>
                    <a:pt x="7049" y="1191"/>
                    <a:pt x="7168" y="1072"/>
                    <a:pt x="7168" y="905"/>
                  </a:cubicBezTo>
                  <a:lnTo>
                    <a:pt x="716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3240026" y="2105565"/>
              <a:ext cx="249132" cy="231870"/>
            </a:xfrm>
            <a:custGeom>
              <a:rect b="b" l="l" r="r" t="t"/>
              <a:pathLst>
                <a:path extrusionOk="0" h="6716" w="7216">
                  <a:moveTo>
                    <a:pt x="6883" y="0"/>
                  </a:moveTo>
                  <a:lnTo>
                    <a:pt x="286" y="0"/>
                  </a:lnTo>
                  <a:cubicBezTo>
                    <a:pt x="119" y="0"/>
                    <a:pt x="0" y="167"/>
                    <a:pt x="0" y="310"/>
                  </a:cubicBezTo>
                  <a:lnTo>
                    <a:pt x="0" y="6716"/>
                  </a:lnTo>
                  <a:lnTo>
                    <a:pt x="7216" y="6716"/>
                  </a:lnTo>
                  <a:lnTo>
                    <a:pt x="7216" y="310"/>
                  </a:lnTo>
                  <a:cubicBezTo>
                    <a:pt x="7216" y="119"/>
                    <a:pt x="7049" y="0"/>
                    <a:pt x="6883" y="0"/>
                  </a:cubicBezTo>
                  <a:close/>
                  <a:moveTo>
                    <a:pt x="2453" y="5311"/>
                  </a:moveTo>
                  <a:lnTo>
                    <a:pt x="1858" y="5906"/>
                  </a:lnTo>
                  <a:cubicBezTo>
                    <a:pt x="1786" y="5954"/>
                    <a:pt x="1739" y="6001"/>
                    <a:pt x="1643" y="6001"/>
                  </a:cubicBezTo>
                  <a:cubicBezTo>
                    <a:pt x="1548" y="6001"/>
                    <a:pt x="1500" y="5954"/>
                    <a:pt x="1429" y="5906"/>
                  </a:cubicBezTo>
                  <a:lnTo>
                    <a:pt x="1191" y="5668"/>
                  </a:lnTo>
                  <a:cubicBezTo>
                    <a:pt x="1072" y="5549"/>
                    <a:pt x="1072" y="5358"/>
                    <a:pt x="1191" y="5239"/>
                  </a:cubicBezTo>
                  <a:cubicBezTo>
                    <a:pt x="1310" y="5120"/>
                    <a:pt x="1500" y="5120"/>
                    <a:pt x="1620" y="5239"/>
                  </a:cubicBezTo>
                  <a:lnTo>
                    <a:pt x="1643" y="5287"/>
                  </a:lnTo>
                  <a:lnTo>
                    <a:pt x="2024" y="4882"/>
                  </a:lnTo>
                  <a:cubicBezTo>
                    <a:pt x="2143" y="4763"/>
                    <a:pt x="2334" y="4763"/>
                    <a:pt x="2453" y="4882"/>
                  </a:cubicBezTo>
                  <a:cubicBezTo>
                    <a:pt x="2572" y="4977"/>
                    <a:pt x="2572" y="5192"/>
                    <a:pt x="2453" y="5311"/>
                  </a:cubicBezTo>
                  <a:close/>
                  <a:moveTo>
                    <a:pt x="2453" y="3525"/>
                  </a:moveTo>
                  <a:lnTo>
                    <a:pt x="1858" y="4120"/>
                  </a:lnTo>
                  <a:cubicBezTo>
                    <a:pt x="1786" y="4168"/>
                    <a:pt x="1739" y="4215"/>
                    <a:pt x="1643" y="4215"/>
                  </a:cubicBezTo>
                  <a:cubicBezTo>
                    <a:pt x="1548" y="4215"/>
                    <a:pt x="1500" y="4168"/>
                    <a:pt x="1429" y="4120"/>
                  </a:cubicBezTo>
                  <a:lnTo>
                    <a:pt x="1191" y="3882"/>
                  </a:lnTo>
                  <a:cubicBezTo>
                    <a:pt x="1072" y="3763"/>
                    <a:pt x="1072" y="3572"/>
                    <a:pt x="1191" y="3453"/>
                  </a:cubicBezTo>
                  <a:cubicBezTo>
                    <a:pt x="1310" y="3334"/>
                    <a:pt x="1500" y="3334"/>
                    <a:pt x="1620" y="3453"/>
                  </a:cubicBezTo>
                  <a:lnTo>
                    <a:pt x="1643" y="3501"/>
                  </a:lnTo>
                  <a:lnTo>
                    <a:pt x="2024" y="3096"/>
                  </a:lnTo>
                  <a:cubicBezTo>
                    <a:pt x="2143" y="2977"/>
                    <a:pt x="2334" y="2977"/>
                    <a:pt x="2453" y="3096"/>
                  </a:cubicBezTo>
                  <a:cubicBezTo>
                    <a:pt x="2572" y="3215"/>
                    <a:pt x="2572" y="3406"/>
                    <a:pt x="2453" y="3525"/>
                  </a:cubicBezTo>
                  <a:close/>
                  <a:moveTo>
                    <a:pt x="2453" y="1739"/>
                  </a:moveTo>
                  <a:lnTo>
                    <a:pt x="1858" y="2334"/>
                  </a:lnTo>
                  <a:cubicBezTo>
                    <a:pt x="1786" y="2382"/>
                    <a:pt x="1691" y="2429"/>
                    <a:pt x="1643" y="2429"/>
                  </a:cubicBezTo>
                  <a:cubicBezTo>
                    <a:pt x="1548" y="2429"/>
                    <a:pt x="1500" y="2382"/>
                    <a:pt x="1429" y="2334"/>
                  </a:cubicBezTo>
                  <a:lnTo>
                    <a:pt x="1191" y="2096"/>
                  </a:lnTo>
                  <a:cubicBezTo>
                    <a:pt x="1072" y="1977"/>
                    <a:pt x="1072" y="1786"/>
                    <a:pt x="1191" y="1667"/>
                  </a:cubicBezTo>
                  <a:cubicBezTo>
                    <a:pt x="1310" y="1548"/>
                    <a:pt x="1500" y="1548"/>
                    <a:pt x="1620" y="1667"/>
                  </a:cubicBezTo>
                  <a:lnTo>
                    <a:pt x="1643" y="1715"/>
                  </a:lnTo>
                  <a:lnTo>
                    <a:pt x="2024" y="1310"/>
                  </a:lnTo>
                  <a:cubicBezTo>
                    <a:pt x="2143" y="1191"/>
                    <a:pt x="2334" y="1191"/>
                    <a:pt x="2453" y="1310"/>
                  </a:cubicBezTo>
                  <a:cubicBezTo>
                    <a:pt x="2572" y="1429"/>
                    <a:pt x="2572" y="1620"/>
                    <a:pt x="2453" y="1739"/>
                  </a:cubicBezTo>
                  <a:close/>
                  <a:moveTo>
                    <a:pt x="5692" y="5692"/>
                  </a:moveTo>
                  <a:lnTo>
                    <a:pt x="3406" y="5692"/>
                  </a:lnTo>
                  <a:cubicBezTo>
                    <a:pt x="3215" y="5692"/>
                    <a:pt x="3096" y="5573"/>
                    <a:pt x="3096" y="5382"/>
                  </a:cubicBezTo>
                  <a:cubicBezTo>
                    <a:pt x="3096" y="5215"/>
                    <a:pt x="3215" y="5096"/>
                    <a:pt x="3406" y="5096"/>
                  </a:cubicBezTo>
                  <a:lnTo>
                    <a:pt x="5692" y="5096"/>
                  </a:lnTo>
                  <a:cubicBezTo>
                    <a:pt x="5859" y="5096"/>
                    <a:pt x="5978" y="5215"/>
                    <a:pt x="5978" y="5382"/>
                  </a:cubicBezTo>
                  <a:cubicBezTo>
                    <a:pt x="5978" y="5549"/>
                    <a:pt x="5859" y="5692"/>
                    <a:pt x="5692" y="5692"/>
                  </a:cubicBezTo>
                  <a:close/>
                  <a:moveTo>
                    <a:pt x="5692" y="3906"/>
                  </a:moveTo>
                  <a:lnTo>
                    <a:pt x="3406" y="3906"/>
                  </a:lnTo>
                  <a:cubicBezTo>
                    <a:pt x="3215" y="3906"/>
                    <a:pt x="3096" y="3787"/>
                    <a:pt x="3096" y="3596"/>
                  </a:cubicBezTo>
                  <a:cubicBezTo>
                    <a:pt x="3096" y="3429"/>
                    <a:pt x="3215" y="3310"/>
                    <a:pt x="3406" y="3310"/>
                  </a:cubicBezTo>
                  <a:lnTo>
                    <a:pt x="5692" y="3310"/>
                  </a:lnTo>
                  <a:cubicBezTo>
                    <a:pt x="5859" y="3310"/>
                    <a:pt x="5978" y="3429"/>
                    <a:pt x="5978" y="3596"/>
                  </a:cubicBezTo>
                  <a:cubicBezTo>
                    <a:pt x="5978" y="3787"/>
                    <a:pt x="5859" y="3906"/>
                    <a:pt x="5692" y="3906"/>
                  </a:cubicBezTo>
                  <a:close/>
                  <a:moveTo>
                    <a:pt x="5692" y="2143"/>
                  </a:moveTo>
                  <a:lnTo>
                    <a:pt x="3406" y="2143"/>
                  </a:lnTo>
                  <a:cubicBezTo>
                    <a:pt x="3215" y="2143"/>
                    <a:pt x="3096" y="2024"/>
                    <a:pt x="3096" y="1858"/>
                  </a:cubicBezTo>
                  <a:cubicBezTo>
                    <a:pt x="3096" y="1667"/>
                    <a:pt x="3215" y="1548"/>
                    <a:pt x="3406" y="1548"/>
                  </a:cubicBezTo>
                  <a:lnTo>
                    <a:pt x="5692" y="1548"/>
                  </a:lnTo>
                  <a:cubicBezTo>
                    <a:pt x="5859" y="1548"/>
                    <a:pt x="5978" y="1667"/>
                    <a:pt x="5978" y="1858"/>
                  </a:cubicBezTo>
                  <a:cubicBezTo>
                    <a:pt x="5978" y="2001"/>
                    <a:pt x="5859" y="2143"/>
                    <a:pt x="5692" y="21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3260568" y="2046355"/>
              <a:ext cx="69085" cy="37839"/>
            </a:xfrm>
            <a:custGeom>
              <a:rect b="b" l="l" r="r" t="t"/>
              <a:pathLst>
                <a:path extrusionOk="0" h="1096" w="2001">
                  <a:moveTo>
                    <a:pt x="2001" y="286"/>
                  </a:moveTo>
                  <a:cubicBezTo>
                    <a:pt x="2001" y="120"/>
                    <a:pt x="1882" y="1"/>
                    <a:pt x="1691" y="1"/>
                  </a:cubicBezTo>
                  <a:lnTo>
                    <a:pt x="310" y="1"/>
                  </a:lnTo>
                  <a:cubicBezTo>
                    <a:pt x="120" y="1"/>
                    <a:pt x="1" y="120"/>
                    <a:pt x="1" y="286"/>
                  </a:cubicBezTo>
                  <a:lnTo>
                    <a:pt x="1" y="1096"/>
                  </a:lnTo>
                  <a:lnTo>
                    <a:pt x="2001" y="10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3398702" y="2046355"/>
              <a:ext cx="68256" cy="37839"/>
            </a:xfrm>
            <a:custGeom>
              <a:rect b="b" l="l" r="r" t="t"/>
              <a:pathLst>
                <a:path extrusionOk="0" h="1096" w="1977">
                  <a:moveTo>
                    <a:pt x="1977" y="286"/>
                  </a:moveTo>
                  <a:cubicBezTo>
                    <a:pt x="1977" y="120"/>
                    <a:pt x="1858" y="1"/>
                    <a:pt x="1691" y="1"/>
                  </a:cubicBezTo>
                  <a:lnTo>
                    <a:pt x="286" y="1"/>
                  </a:lnTo>
                  <a:cubicBezTo>
                    <a:pt x="119" y="1"/>
                    <a:pt x="0" y="120"/>
                    <a:pt x="0" y="286"/>
                  </a:cubicBezTo>
                  <a:lnTo>
                    <a:pt x="0" y="1096"/>
                  </a:lnTo>
                  <a:lnTo>
                    <a:pt x="1977" y="10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49" name="Google Shape;849;p33"/>
          <p:cNvSpPr/>
          <p:nvPr/>
        </p:nvSpPr>
        <p:spPr>
          <a:xfrm flipH="1">
            <a:off x="5005402" y="3266714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4"/>
          <p:cNvSpPr txBox="1"/>
          <p:nvPr>
            <p:ph type="title"/>
          </p:nvPr>
        </p:nvSpPr>
        <p:spPr>
          <a:xfrm>
            <a:off x="723078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Target Label Creation</a:t>
            </a:r>
            <a:endParaRPr b="1"/>
          </a:p>
        </p:txBody>
      </p:sp>
      <p:sp>
        <p:nvSpPr>
          <p:cNvPr id="855" name="Google Shape;855;p34"/>
          <p:cNvSpPr txBox="1"/>
          <p:nvPr/>
        </p:nvSpPr>
        <p:spPr>
          <a:xfrm>
            <a:off x="837550" y="997125"/>
            <a:ext cx="8171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Calculates Units Sold per Product &amp; Time Window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○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units60: Total units sold in days [0, 60]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Defines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Bestseller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Threshold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○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Compute the 90th percentile of units60 distribution across all products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Creates Binary Label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○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Assign Best_Seller_60 = 1 if units60 ≥ threshold_60, else 0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Computes Early Momentum Features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○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Calculate early_momentum_7 = units7 / units60 (ratio of early sales to total)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Example: units7 (Days 1-7) = 292 units, units14 (Days 1-14) = 336 units, units60 (Days 1-60) = 351 units (Front Loader behaviour)</a:t>
            </a:r>
            <a:b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top 10% of products sell 56+ units in their first 60 days (threshold_60= 56)</a:t>
            </a:r>
            <a:b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If units60 ≥ threshold then Best_Seller_60= 1 else 0</a:t>
            </a:r>
            <a:b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351 ≥ 56,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therefore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Best_Seller_60= 1</a:t>
            </a:r>
            <a:b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Early_momentum_7 ratio = 292/351 = 0.832 which is higher than 0.75,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therefore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classified as ‘Trending’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5"/>
          <p:cNvSpPr txBox="1"/>
          <p:nvPr>
            <p:ph idx="9" type="subTitle"/>
          </p:nvPr>
        </p:nvSpPr>
        <p:spPr>
          <a:xfrm>
            <a:off x="3442300" y="1534059"/>
            <a:ext cx="2906400" cy="732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</a:t>
            </a:r>
            <a:r>
              <a:rPr lang="en" sz="2000"/>
              <a:t>Pre Processing Pipeline</a:t>
            </a:r>
            <a:endParaRPr sz="2000"/>
          </a:p>
        </p:txBody>
      </p:sp>
      <p:sp>
        <p:nvSpPr>
          <p:cNvPr id="861" name="Google Shape;861;p35"/>
          <p:cNvSpPr txBox="1"/>
          <p:nvPr>
            <p:ph type="title"/>
          </p:nvPr>
        </p:nvSpPr>
        <p:spPr>
          <a:xfrm>
            <a:off x="713225" y="419625"/>
            <a:ext cx="77175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 of </a:t>
            </a:r>
            <a:r>
              <a:rPr b="1" lang="en"/>
              <a:t>Modeling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62" name="Google Shape;862;p35"/>
          <p:cNvSpPr txBox="1"/>
          <p:nvPr>
            <p:ph idx="3" type="subTitle"/>
          </p:nvPr>
        </p:nvSpPr>
        <p:spPr>
          <a:xfrm>
            <a:off x="327137" y="1502147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-18415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Features</a:t>
            </a:r>
            <a:endParaRPr sz="2000"/>
          </a:p>
        </p:txBody>
      </p:sp>
      <p:sp>
        <p:nvSpPr>
          <p:cNvPr id="863" name="Google Shape;863;p35"/>
          <p:cNvSpPr txBox="1"/>
          <p:nvPr>
            <p:ph idx="1" type="subTitle"/>
          </p:nvPr>
        </p:nvSpPr>
        <p:spPr>
          <a:xfrm>
            <a:off x="6475757" y="1502150"/>
            <a:ext cx="25101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Baseline Models</a:t>
            </a:r>
            <a:endParaRPr sz="2000"/>
          </a:p>
        </p:txBody>
      </p:sp>
      <p:sp>
        <p:nvSpPr>
          <p:cNvPr id="864" name="Google Shape;864;p35"/>
          <p:cNvSpPr txBox="1"/>
          <p:nvPr>
            <p:ph idx="2" type="subTitle"/>
          </p:nvPr>
        </p:nvSpPr>
        <p:spPr>
          <a:xfrm>
            <a:off x="6475775" y="2002239"/>
            <a:ext cx="2075400" cy="980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5 models: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Logistic Regression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Decision Trees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Gradient Boosting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SVM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5" name="Google Shape;865;p35"/>
          <p:cNvSpPr txBox="1"/>
          <p:nvPr>
            <p:ph idx="1" type="subTitle"/>
          </p:nvPr>
        </p:nvSpPr>
        <p:spPr>
          <a:xfrm>
            <a:off x="5490325" y="3843600"/>
            <a:ext cx="2859600" cy="564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5</a:t>
            </a:r>
            <a:r>
              <a:rPr lang="en" sz="2000"/>
              <a:t>. Test Set Validation</a:t>
            </a:r>
            <a:endParaRPr sz="2000"/>
          </a:p>
        </p:txBody>
      </p:sp>
      <p:sp>
        <p:nvSpPr>
          <p:cNvPr id="866" name="Google Shape;866;p35"/>
          <p:cNvSpPr txBox="1"/>
          <p:nvPr>
            <p:ph idx="4" type="subTitle"/>
          </p:nvPr>
        </p:nvSpPr>
        <p:spPr>
          <a:xfrm>
            <a:off x="1987030" y="4103699"/>
            <a:ext cx="2712000" cy="783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5 split StratifiedKFold 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scoring=</a:t>
            </a:r>
            <a:r>
              <a:rPr lang="en">
                <a:solidFill>
                  <a:srgbClr val="A3151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"balanced_accuracy"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7" name="Google Shape;867;p35"/>
          <p:cNvSpPr txBox="1"/>
          <p:nvPr>
            <p:ph idx="1" type="subTitle"/>
          </p:nvPr>
        </p:nvSpPr>
        <p:spPr>
          <a:xfrm>
            <a:off x="1942097" y="3656593"/>
            <a:ext cx="27120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4. P</a:t>
            </a:r>
            <a:r>
              <a:rPr lang="en" sz="2000"/>
              <a:t>aram Grids/ CV</a:t>
            </a:r>
            <a:endParaRPr sz="2000"/>
          </a:p>
        </p:txBody>
      </p:sp>
      <p:sp>
        <p:nvSpPr>
          <p:cNvPr id="868" name="Google Shape;868;p35"/>
          <p:cNvSpPr txBox="1"/>
          <p:nvPr>
            <p:ph idx="4" type="subTitle"/>
          </p:nvPr>
        </p:nvSpPr>
        <p:spPr>
          <a:xfrm>
            <a:off x="375900" y="1965975"/>
            <a:ext cx="3078000" cy="140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b="1" lang="en" sz="900">
                <a:latin typeface="Poppins"/>
                <a:ea typeface="Poppins"/>
                <a:cs typeface="Poppins"/>
                <a:sym typeface="Poppins"/>
              </a:rPr>
              <a:t>Numeric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 features used: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['units7', 'units14', 'price', 'freight_value', 'delivery_time_days', 'freight_ratio']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100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b="1" lang="en" sz="900">
                <a:latin typeface="Poppins"/>
                <a:ea typeface="Poppins"/>
                <a:cs typeface="Poppins"/>
                <a:sym typeface="Poppins"/>
              </a:rPr>
              <a:t>Categorical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 features used: ['product_category_name', 'seller_id', 'order_status']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100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9 features and 1 target variable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9" name="Google Shape;8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647" y="2269425"/>
            <a:ext cx="2592000" cy="961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36"/>
          <p:cNvGrpSpPr/>
          <p:nvPr/>
        </p:nvGrpSpPr>
        <p:grpSpPr>
          <a:xfrm>
            <a:off x="732465" y="368238"/>
            <a:ext cx="7917558" cy="4407033"/>
            <a:chOff x="713223" y="368238"/>
            <a:chExt cx="7917558" cy="4407033"/>
          </a:xfrm>
        </p:grpSpPr>
        <p:sp>
          <p:nvSpPr>
            <p:cNvPr id="875" name="Google Shape;875;p36"/>
            <p:cNvSpPr/>
            <p:nvPr/>
          </p:nvSpPr>
          <p:spPr>
            <a:xfrm rot="10800000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 rot="10800000">
              <a:off x="713223" y="24002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7" name="Google Shape;877;p36"/>
          <p:cNvSpPr txBox="1"/>
          <p:nvPr>
            <p:ph type="title"/>
          </p:nvPr>
        </p:nvSpPr>
        <p:spPr>
          <a:xfrm>
            <a:off x="3700241" y="2719547"/>
            <a:ext cx="43590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78" name="Google Shape;878;p36"/>
          <p:cNvGrpSpPr/>
          <p:nvPr/>
        </p:nvGrpSpPr>
        <p:grpSpPr>
          <a:xfrm>
            <a:off x="713230" y="1437717"/>
            <a:ext cx="7113095" cy="3166295"/>
            <a:chOff x="713230" y="1437717"/>
            <a:chExt cx="7113095" cy="3166295"/>
          </a:xfrm>
        </p:grpSpPr>
        <p:grpSp>
          <p:nvGrpSpPr>
            <p:cNvPr id="879" name="Google Shape;879;p36"/>
            <p:cNvGrpSpPr/>
            <p:nvPr/>
          </p:nvGrpSpPr>
          <p:grpSpPr>
            <a:xfrm>
              <a:off x="713230" y="4270541"/>
              <a:ext cx="882533" cy="333471"/>
              <a:chOff x="3551575" y="3215125"/>
              <a:chExt cx="389450" cy="147150"/>
            </a:xfrm>
          </p:grpSpPr>
          <p:sp>
            <p:nvSpPr>
              <p:cNvPr id="880" name="Google Shape;880;p3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3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3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3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3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3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3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3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3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3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2" name="Google Shape;902;p36"/>
            <p:cNvGrpSpPr/>
            <p:nvPr/>
          </p:nvGrpSpPr>
          <p:grpSpPr>
            <a:xfrm>
              <a:off x="7104225" y="1437717"/>
              <a:ext cx="722099" cy="407700"/>
              <a:chOff x="1211425" y="918075"/>
              <a:chExt cx="722099" cy="407700"/>
            </a:xfrm>
          </p:grpSpPr>
          <p:sp>
            <p:nvSpPr>
              <p:cNvPr id="903" name="Google Shape;903;p36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36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36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36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36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36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36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36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36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36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36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36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36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36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36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36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36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36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21" name="Google Shape;921;p36"/>
          <p:cNvGrpSpPr/>
          <p:nvPr/>
        </p:nvGrpSpPr>
        <p:grpSpPr>
          <a:xfrm>
            <a:off x="-2345656" y="-1320018"/>
            <a:ext cx="8780562" cy="9003051"/>
            <a:chOff x="-2345656" y="-1320018"/>
            <a:chExt cx="8780562" cy="9003051"/>
          </a:xfrm>
        </p:grpSpPr>
        <p:grpSp>
          <p:nvGrpSpPr>
            <p:cNvPr id="922" name="Google Shape;922;p36"/>
            <p:cNvGrpSpPr/>
            <p:nvPr/>
          </p:nvGrpSpPr>
          <p:grpSpPr>
            <a:xfrm rot="-4179191">
              <a:off x="1000180" y="-881268"/>
              <a:ext cx="2324987" cy="2229597"/>
              <a:chOff x="5165475" y="-713653"/>
              <a:chExt cx="2324999" cy="2229609"/>
            </a:xfrm>
          </p:grpSpPr>
          <p:sp>
            <p:nvSpPr>
              <p:cNvPr id="923" name="Google Shape;923;p3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3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5" name="Google Shape;925;p36"/>
            <p:cNvGrpSpPr/>
            <p:nvPr/>
          </p:nvGrpSpPr>
          <p:grpSpPr>
            <a:xfrm rot="-1541492">
              <a:off x="2535099" y="3721048"/>
              <a:ext cx="3325047" cy="3409781"/>
              <a:chOff x="7159200" y="2117361"/>
              <a:chExt cx="2271501" cy="2329387"/>
            </a:xfrm>
          </p:grpSpPr>
          <p:sp>
            <p:nvSpPr>
              <p:cNvPr id="926" name="Google Shape;926;p3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3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3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36"/>
            <p:cNvGrpSpPr/>
            <p:nvPr/>
          </p:nvGrpSpPr>
          <p:grpSpPr>
            <a:xfrm rot="10800000">
              <a:off x="-2345656" y="-1320018"/>
              <a:ext cx="4530594" cy="5076286"/>
              <a:chOff x="4826000" y="4400753"/>
              <a:chExt cx="4530594" cy="5076286"/>
            </a:xfrm>
          </p:grpSpPr>
          <p:sp>
            <p:nvSpPr>
              <p:cNvPr id="930" name="Google Shape;930;p3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3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32" name="Google Shape;932;p36"/>
          <p:cNvSpPr txBox="1"/>
          <p:nvPr>
            <p:ph idx="4294967295" type="title"/>
          </p:nvPr>
        </p:nvSpPr>
        <p:spPr>
          <a:xfrm>
            <a:off x="6360160" y="1765227"/>
            <a:ext cx="1569300" cy="974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0</a:t>
            </a:r>
            <a:r>
              <a:rPr lang="en" sz="6000">
                <a:solidFill>
                  <a:schemeClr val="lt1"/>
                </a:solidFill>
              </a:rPr>
              <a:t>4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7"/>
          <p:cNvSpPr txBox="1"/>
          <p:nvPr>
            <p:ph type="title"/>
          </p:nvPr>
        </p:nvSpPr>
        <p:spPr>
          <a:xfrm>
            <a:off x="734025" y="420125"/>
            <a:ext cx="80100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/>
              <a:t>Train vs Test Performance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38" name="Google Shape;938;p37"/>
          <p:cNvSpPr txBox="1"/>
          <p:nvPr/>
        </p:nvSpPr>
        <p:spPr>
          <a:xfrm>
            <a:off x="734023" y="4038985"/>
            <a:ext cx="62421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Medium"/>
              <a:buChar char="●"/>
            </a:pPr>
            <a:r>
              <a:rPr lang="en" sz="13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Train and test Balanced Accuracy were similar → no overfitting</a:t>
            </a:r>
            <a:endParaRPr sz="13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Medium"/>
              <a:buChar char="●"/>
            </a:pPr>
            <a:r>
              <a:rPr lang="en" sz="13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Confirms the model generalizes well to unseen product launches</a:t>
            </a:r>
            <a:endParaRPr sz="13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Medium"/>
              <a:buChar char="●"/>
            </a:pPr>
            <a:r>
              <a:rPr lang="en" sz="13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Time based split also validates real world deployment reliability</a:t>
            </a:r>
            <a:endParaRPr sz="13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39" name="Google Shape;9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469" y="1144013"/>
            <a:ext cx="7613075" cy="15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19" y="2644663"/>
            <a:ext cx="7613075" cy="1268846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37"/>
          <p:cNvSpPr/>
          <p:nvPr/>
        </p:nvSpPr>
        <p:spPr>
          <a:xfrm>
            <a:off x="829650" y="1383350"/>
            <a:ext cx="7335300" cy="249300"/>
          </a:xfrm>
          <a:prstGeom prst="rect">
            <a:avLst/>
          </a:prstGeom>
          <a:noFill/>
          <a:ln cap="flat" cmpd="sng" w="9525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42" name="Google Shape;942;p37"/>
          <p:cNvSpPr/>
          <p:nvPr/>
        </p:nvSpPr>
        <p:spPr>
          <a:xfrm>
            <a:off x="857425" y="2835426"/>
            <a:ext cx="7335300" cy="203700"/>
          </a:xfrm>
          <a:prstGeom prst="rect">
            <a:avLst/>
          </a:prstGeom>
          <a:noFill/>
          <a:ln cap="flat" cmpd="sng" w="9525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50" y="1255775"/>
            <a:ext cx="4370525" cy="34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38"/>
          <p:cNvSpPr txBox="1"/>
          <p:nvPr>
            <p:ph type="title"/>
          </p:nvPr>
        </p:nvSpPr>
        <p:spPr>
          <a:xfrm>
            <a:off x="735354" y="453250"/>
            <a:ext cx="6062700" cy="58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ROC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949" name="Google Shape;949;p38"/>
          <p:cNvSpPr txBox="1"/>
          <p:nvPr/>
        </p:nvSpPr>
        <p:spPr>
          <a:xfrm>
            <a:off x="5040577" y="1459825"/>
            <a:ext cx="38364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ROC curve demonstrates strong separation ability, confirming that early sales indicators are predictive of 60-day success.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Medium"/>
              <a:buChar char="●"/>
            </a:pPr>
            <a:r>
              <a:rPr b="1" lang="en" sz="15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Balanced Accuracy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was used due to class imbalance, and it aligns with the strong AUC, confirming the model reliably identifies both winners and non-winners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32" y="1134375"/>
            <a:ext cx="3524275" cy="33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39"/>
          <p:cNvSpPr txBox="1"/>
          <p:nvPr>
            <p:ph type="title"/>
          </p:nvPr>
        </p:nvSpPr>
        <p:spPr>
          <a:xfrm>
            <a:off x="727789" y="429975"/>
            <a:ext cx="37077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/>
              <a:t>Confusion Matrix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56" name="Google Shape;956;p39"/>
          <p:cNvSpPr txBox="1"/>
          <p:nvPr/>
        </p:nvSpPr>
        <p:spPr>
          <a:xfrm>
            <a:off x="4571049" y="1330250"/>
            <a:ext cx="43266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Medium"/>
              <a:buChar char="●"/>
            </a:pPr>
            <a:r>
              <a:rPr lang="en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True Positives →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correctly predicted future best-sellers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Medium"/>
              <a:buChar char="●"/>
            </a:pPr>
            <a:r>
              <a:rPr lang="en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True Negatives →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avoids wasting marketing on weak products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Medium"/>
              <a:buChar char="●"/>
            </a:pPr>
            <a:r>
              <a:rPr lang="en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 Positives →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often “front-loaded” items that spike early but plateau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Medium"/>
              <a:buChar char="●"/>
            </a:pPr>
            <a:r>
              <a:rPr lang="en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 Negatives → </a:t>
            </a: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“late bloomers” caught by momentum segmentation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730/(5010+573+278+730)=0.111</a:t>
            </a:r>
            <a:endParaRPr sz="15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0"/>
          <p:cNvSpPr txBox="1"/>
          <p:nvPr>
            <p:ph type="title"/>
          </p:nvPr>
        </p:nvSpPr>
        <p:spPr>
          <a:xfrm>
            <a:off x="721729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</a:t>
            </a:r>
            <a:r>
              <a:rPr b="1" lang="en"/>
              <a:t>ecision Recall Graph</a:t>
            </a:r>
            <a:endParaRPr b="1"/>
          </a:p>
        </p:txBody>
      </p:sp>
      <p:pic>
        <p:nvPicPr>
          <p:cNvPr id="962" name="Google Shape;9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9525"/>
            <a:ext cx="4572123" cy="28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923" y="1149525"/>
            <a:ext cx="4114677" cy="3313834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40"/>
          <p:cNvSpPr/>
          <p:nvPr/>
        </p:nvSpPr>
        <p:spPr>
          <a:xfrm>
            <a:off x="4960125" y="2805875"/>
            <a:ext cx="3801000" cy="527100"/>
          </a:xfrm>
          <a:prstGeom prst="rect">
            <a:avLst/>
          </a:prstGeom>
          <a:noFill/>
          <a:ln cap="flat" cmpd="sng" w="9525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</a:t>
            </a:r>
            <a:r>
              <a:rPr b="1" lang="en"/>
              <a:t>egmented_predictions.csv</a:t>
            </a:r>
            <a:endParaRPr b="1"/>
          </a:p>
        </p:txBody>
      </p:sp>
      <p:sp>
        <p:nvSpPr>
          <p:cNvPr id="970" name="Google Shape;970;p41"/>
          <p:cNvSpPr txBox="1"/>
          <p:nvPr/>
        </p:nvSpPr>
        <p:spPr>
          <a:xfrm>
            <a:off x="6577650" y="1118625"/>
            <a:ext cx="2430000" cy="3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Identifies false positives (early spikes that don't sustain) vs false negatives (slow starts that become winners)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Trending(FRONT_LOADED) + high prob → "Flash deal" (Days 1-7, capture the spike)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LATE_BLOOMER + high prob → "Watch &amp; nurture" (Days 15-60, recheck at Day 28)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71" name="Google Shape;9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425" y="1118625"/>
            <a:ext cx="6041224" cy="3671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42"/>
          <p:cNvGrpSpPr/>
          <p:nvPr/>
        </p:nvGrpSpPr>
        <p:grpSpPr>
          <a:xfrm>
            <a:off x="713223" y="368238"/>
            <a:ext cx="7917558" cy="4407033"/>
            <a:chOff x="713223" y="368238"/>
            <a:chExt cx="7917558" cy="4407033"/>
          </a:xfrm>
        </p:grpSpPr>
        <p:sp>
          <p:nvSpPr>
            <p:cNvPr id="977" name="Google Shape;977;p42"/>
            <p:cNvSpPr/>
            <p:nvPr/>
          </p:nvSpPr>
          <p:spPr>
            <a:xfrm rot="10800000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2"/>
            <p:cNvSpPr/>
            <p:nvPr/>
          </p:nvSpPr>
          <p:spPr>
            <a:xfrm rot="10800000">
              <a:off x="713223" y="24002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9" name="Google Shape;979;p42"/>
          <p:cNvSpPr txBox="1"/>
          <p:nvPr>
            <p:ph type="title"/>
          </p:nvPr>
        </p:nvSpPr>
        <p:spPr>
          <a:xfrm>
            <a:off x="3734179" y="3011151"/>
            <a:ext cx="47523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80" name="Google Shape;980;p42"/>
          <p:cNvGrpSpPr/>
          <p:nvPr/>
        </p:nvGrpSpPr>
        <p:grpSpPr>
          <a:xfrm>
            <a:off x="713230" y="1437717"/>
            <a:ext cx="7113095" cy="3166295"/>
            <a:chOff x="713230" y="1437717"/>
            <a:chExt cx="7113095" cy="3166295"/>
          </a:xfrm>
        </p:grpSpPr>
        <p:grpSp>
          <p:nvGrpSpPr>
            <p:cNvPr id="981" name="Google Shape;981;p42"/>
            <p:cNvGrpSpPr/>
            <p:nvPr/>
          </p:nvGrpSpPr>
          <p:grpSpPr>
            <a:xfrm>
              <a:off x="713230" y="4270541"/>
              <a:ext cx="882533" cy="333471"/>
              <a:chOff x="3551575" y="3215125"/>
              <a:chExt cx="389450" cy="147150"/>
            </a:xfrm>
          </p:grpSpPr>
          <p:sp>
            <p:nvSpPr>
              <p:cNvPr id="982" name="Google Shape;982;p4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4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4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4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4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4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4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4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4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4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4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4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4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4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4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4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4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4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4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4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4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4" name="Google Shape;1004;p42"/>
            <p:cNvGrpSpPr/>
            <p:nvPr/>
          </p:nvGrpSpPr>
          <p:grpSpPr>
            <a:xfrm>
              <a:off x="7104225" y="1437717"/>
              <a:ext cx="722099" cy="407700"/>
              <a:chOff x="1211425" y="918075"/>
              <a:chExt cx="722099" cy="407700"/>
            </a:xfrm>
          </p:grpSpPr>
          <p:sp>
            <p:nvSpPr>
              <p:cNvPr id="1005" name="Google Shape;1005;p4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4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4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4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4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4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4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4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4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4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4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4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4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4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4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4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3" name="Google Shape;1023;p42"/>
          <p:cNvGrpSpPr/>
          <p:nvPr/>
        </p:nvGrpSpPr>
        <p:grpSpPr>
          <a:xfrm>
            <a:off x="-2345656" y="-1320018"/>
            <a:ext cx="8780562" cy="9003051"/>
            <a:chOff x="-2345656" y="-1320018"/>
            <a:chExt cx="8780562" cy="9003051"/>
          </a:xfrm>
        </p:grpSpPr>
        <p:grpSp>
          <p:nvGrpSpPr>
            <p:cNvPr id="1024" name="Google Shape;1024;p42"/>
            <p:cNvGrpSpPr/>
            <p:nvPr/>
          </p:nvGrpSpPr>
          <p:grpSpPr>
            <a:xfrm rot="-4179191">
              <a:off x="1000180" y="-881268"/>
              <a:ext cx="2324987" cy="2229597"/>
              <a:chOff x="5165475" y="-713653"/>
              <a:chExt cx="2324999" cy="2229609"/>
            </a:xfrm>
          </p:grpSpPr>
          <p:sp>
            <p:nvSpPr>
              <p:cNvPr id="1025" name="Google Shape;1025;p4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4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7" name="Google Shape;1027;p42"/>
            <p:cNvGrpSpPr/>
            <p:nvPr/>
          </p:nvGrpSpPr>
          <p:grpSpPr>
            <a:xfrm rot="-1541492">
              <a:off x="2535099" y="3721048"/>
              <a:ext cx="3325047" cy="3409781"/>
              <a:chOff x="7159200" y="2117361"/>
              <a:chExt cx="2271501" cy="2329387"/>
            </a:xfrm>
          </p:grpSpPr>
          <p:sp>
            <p:nvSpPr>
              <p:cNvPr id="1028" name="Google Shape;1028;p4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4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4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1" name="Google Shape;1031;p42"/>
            <p:cNvGrpSpPr/>
            <p:nvPr/>
          </p:nvGrpSpPr>
          <p:grpSpPr>
            <a:xfrm rot="10800000">
              <a:off x="-2345656" y="-1320018"/>
              <a:ext cx="4530594" cy="5076286"/>
              <a:chOff x="4826000" y="4400753"/>
              <a:chExt cx="4530594" cy="5076286"/>
            </a:xfrm>
          </p:grpSpPr>
          <p:sp>
            <p:nvSpPr>
              <p:cNvPr id="1032" name="Google Shape;1032;p4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4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34" name="Google Shape;1034;p42"/>
          <p:cNvSpPr txBox="1"/>
          <p:nvPr>
            <p:ph idx="4294967295" type="title"/>
          </p:nvPr>
        </p:nvSpPr>
        <p:spPr>
          <a:xfrm>
            <a:off x="6013844" y="2037050"/>
            <a:ext cx="2111100" cy="9741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</a:rPr>
              <a:t>0</a:t>
            </a:r>
            <a:r>
              <a:rPr lang="en" sz="6000">
                <a:solidFill>
                  <a:schemeClr val="lt1"/>
                </a:solidFill>
              </a:rPr>
              <a:t>5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oogle Shape;1039;p43"/>
          <p:cNvGrpSpPr/>
          <p:nvPr/>
        </p:nvGrpSpPr>
        <p:grpSpPr>
          <a:xfrm>
            <a:off x="496650" y="748303"/>
            <a:ext cx="8150700" cy="3823793"/>
            <a:chOff x="496650" y="778415"/>
            <a:chExt cx="8150700" cy="3770999"/>
          </a:xfrm>
        </p:grpSpPr>
        <p:grpSp>
          <p:nvGrpSpPr>
            <p:cNvPr id="1040" name="Google Shape;1040;p43"/>
            <p:cNvGrpSpPr/>
            <p:nvPr/>
          </p:nvGrpSpPr>
          <p:grpSpPr>
            <a:xfrm>
              <a:off x="496650" y="781518"/>
              <a:ext cx="2397300" cy="3767875"/>
              <a:chOff x="3132475" y="2786683"/>
              <a:chExt cx="2397300" cy="1949338"/>
            </a:xfrm>
          </p:grpSpPr>
          <p:sp>
            <p:nvSpPr>
              <p:cNvPr id="1041" name="Google Shape;1041;p43"/>
              <p:cNvSpPr/>
              <p:nvPr/>
            </p:nvSpPr>
            <p:spPr>
              <a:xfrm flipH="1">
                <a:off x="3132475" y="2786683"/>
                <a:ext cx="2397300" cy="2970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850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7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</a:t>
                </a:r>
                <a:r>
                  <a:rPr b="1" lang="en" sz="17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ecommendations</a:t>
                </a:r>
                <a:endParaRPr b="1"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2" name="Google Shape;1042;p43"/>
              <p:cNvSpPr/>
              <p:nvPr/>
            </p:nvSpPr>
            <p:spPr>
              <a:xfrm flipH="1">
                <a:off x="3132475" y="3083921"/>
                <a:ext cx="2397300" cy="16521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237725">
                <a:noAutofit/>
              </a:bodyPr>
              <a:lstStyle/>
              <a:p>
                <a:pPr indent="-317500" lvl="0" marL="45720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Adopt category specific seasonal segmentation thresholds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-317500" lvl="0" marL="45720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Flag </a:t>
                </a: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n</a:t>
                </a: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on best sellers for better images, </a:t>
                </a: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price, </a:t>
                </a: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description, etc.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-317500" lvl="0" marL="457200" rtl="0" algn="l">
                  <a:spcBef>
                    <a:spcPts val="1000"/>
                  </a:spcBef>
                  <a:spcAft>
                    <a:spcPts val="100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Homepage slots, and paid ads to the top slice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1043" name="Google Shape;1043;p43"/>
            <p:cNvGrpSpPr/>
            <p:nvPr/>
          </p:nvGrpSpPr>
          <p:grpSpPr>
            <a:xfrm>
              <a:off x="3373350" y="778415"/>
              <a:ext cx="2397300" cy="3770999"/>
              <a:chOff x="3132475" y="2846583"/>
              <a:chExt cx="2397300" cy="3043829"/>
            </a:xfrm>
          </p:grpSpPr>
          <p:sp>
            <p:nvSpPr>
              <p:cNvPr id="1044" name="Google Shape;1044;p43"/>
              <p:cNvSpPr/>
              <p:nvPr/>
            </p:nvSpPr>
            <p:spPr>
              <a:xfrm flipH="1">
                <a:off x="3132475" y="2846583"/>
                <a:ext cx="2397300" cy="4341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850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Challenges</a:t>
                </a:r>
                <a:endParaRPr b="1" sz="17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5" name="Google Shape;1045;p43"/>
              <p:cNvSpPr/>
              <p:nvPr/>
            </p:nvSpPr>
            <p:spPr>
              <a:xfrm flipH="1">
                <a:off x="3132475" y="3280712"/>
                <a:ext cx="2397300" cy="26097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237725">
                <a:noAutofit/>
              </a:bodyPr>
              <a:lstStyle/>
              <a:p>
                <a:pPr indent="-3175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Does not capture external influence such as brand image and quality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-317500" lvl="0" marL="45720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Parameter tuning revealed that simpler models often beat complex ones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-317500" lvl="0" marL="457200" rtl="0" algn="l">
                  <a:spcBef>
                    <a:spcPts val="1000"/>
                  </a:spcBef>
                  <a:spcAft>
                    <a:spcPts val="100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Defining the appropriate label 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1046" name="Google Shape;1046;p43"/>
            <p:cNvGrpSpPr/>
            <p:nvPr/>
          </p:nvGrpSpPr>
          <p:grpSpPr>
            <a:xfrm>
              <a:off x="6250050" y="778499"/>
              <a:ext cx="2397300" cy="3767817"/>
              <a:chOff x="3132475" y="2846579"/>
              <a:chExt cx="2397300" cy="1899293"/>
            </a:xfrm>
          </p:grpSpPr>
          <p:sp>
            <p:nvSpPr>
              <p:cNvPr id="1047" name="Google Shape;1047;p43"/>
              <p:cNvSpPr/>
              <p:nvPr/>
            </p:nvSpPr>
            <p:spPr>
              <a:xfrm flipH="1">
                <a:off x="3132475" y="2846579"/>
                <a:ext cx="2397300" cy="2895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850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Next Steps</a:t>
                </a:r>
                <a:endParaRPr b="1"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8" name="Google Shape;1048;p43"/>
              <p:cNvSpPr/>
              <p:nvPr/>
            </p:nvSpPr>
            <p:spPr>
              <a:xfrm flipH="1">
                <a:off x="3132475" y="3136072"/>
                <a:ext cx="2397300" cy="16098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237725">
                <a:noAutofit/>
              </a:bodyPr>
              <a:lstStyle/>
              <a:p>
                <a:pPr indent="-3175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Further analysis on segmented predictions.csv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-317500" lvl="0" marL="45720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Expand feature engineering to include external factors.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-317500" lvl="0" marL="457200" rtl="0" algn="l">
                  <a:spcBef>
                    <a:spcPts val="1000"/>
                  </a:spcBef>
                  <a:spcAft>
                    <a:spcPts val="1000"/>
                  </a:spcAft>
                  <a:buClr>
                    <a:schemeClr val="dk1"/>
                  </a:buClr>
                  <a:buSzPts val="1400"/>
                  <a:buFont typeface="Poppins Medium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Implement A/B testing to validate business impact</a:t>
                </a:r>
                <a:endParaRPr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4"/>
          <p:cNvSpPr txBox="1"/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Colab Link:</a:t>
            </a:r>
            <a:endParaRPr/>
          </a:p>
        </p:txBody>
      </p:sp>
      <p:sp>
        <p:nvSpPr>
          <p:cNvPr id="1054" name="Google Shape;1054;p44"/>
          <p:cNvSpPr txBox="1"/>
          <p:nvPr>
            <p:ph idx="1" type="subTitle"/>
          </p:nvPr>
        </p:nvSpPr>
        <p:spPr>
          <a:xfrm>
            <a:off x="712575" y="2628225"/>
            <a:ext cx="74337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https://colab.research.google.com/drive/1FQHHjC4g98R9T_1YLuvtLpsVWRc4Wm7X#scrollTo=ZbEXlD5m5MiN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5"/>
          <p:cNvSpPr/>
          <p:nvPr/>
        </p:nvSpPr>
        <p:spPr>
          <a:xfrm rot="10800000">
            <a:off x="720330" y="801003"/>
            <a:ext cx="350302" cy="700625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0" name="Google Shape;1060;p45"/>
          <p:cNvGrpSpPr/>
          <p:nvPr/>
        </p:nvGrpSpPr>
        <p:grpSpPr>
          <a:xfrm>
            <a:off x="1852898" y="947466"/>
            <a:ext cx="2079759" cy="2404093"/>
            <a:chOff x="1852898" y="947466"/>
            <a:chExt cx="2079759" cy="2404093"/>
          </a:xfrm>
        </p:grpSpPr>
        <p:grpSp>
          <p:nvGrpSpPr>
            <p:cNvPr id="1061" name="Google Shape;1061;p45"/>
            <p:cNvGrpSpPr/>
            <p:nvPr/>
          </p:nvGrpSpPr>
          <p:grpSpPr>
            <a:xfrm flipH="1">
              <a:off x="1852898" y="3018088"/>
              <a:ext cx="882533" cy="333471"/>
              <a:chOff x="3551575" y="3215125"/>
              <a:chExt cx="389450" cy="147150"/>
            </a:xfrm>
          </p:grpSpPr>
          <p:sp>
            <p:nvSpPr>
              <p:cNvPr id="1062" name="Google Shape;1062;p45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45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45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45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45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45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45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45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45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45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45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45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45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45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45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45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45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45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45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45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45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45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4" name="Google Shape;1084;p45"/>
            <p:cNvGrpSpPr/>
            <p:nvPr/>
          </p:nvGrpSpPr>
          <p:grpSpPr>
            <a:xfrm flipH="1">
              <a:off x="3210559" y="947466"/>
              <a:ext cx="722099" cy="407700"/>
              <a:chOff x="1211425" y="918075"/>
              <a:chExt cx="722099" cy="407700"/>
            </a:xfrm>
          </p:grpSpPr>
          <p:sp>
            <p:nvSpPr>
              <p:cNvPr id="1085" name="Google Shape;1085;p4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4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4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4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4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4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4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4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4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4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4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4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4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4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4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4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4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4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03" name="Google Shape;1103;p45"/>
          <p:cNvGrpSpPr/>
          <p:nvPr/>
        </p:nvGrpSpPr>
        <p:grpSpPr>
          <a:xfrm>
            <a:off x="-1565206" y="-2327047"/>
            <a:ext cx="8494402" cy="10048056"/>
            <a:chOff x="-1565206" y="-2327047"/>
            <a:chExt cx="8494402" cy="10048056"/>
          </a:xfrm>
        </p:grpSpPr>
        <p:grpSp>
          <p:nvGrpSpPr>
            <p:cNvPr id="1104" name="Google Shape;1104;p45"/>
            <p:cNvGrpSpPr/>
            <p:nvPr/>
          </p:nvGrpSpPr>
          <p:grpSpPr>
            <a:xfrm rot="-5400000">
              <a:off x="2125755" y="-2599893"/>
              <a:ext cx="4530594" cy="5076286"/>
              <a:chOff x="4826000" y="4400753"/>
              <a:chExt cx="4530594" cy="5076286"/>
            </a:xfrm>
          </p:grpSpPr>
          <p:sp>
            <p:nvSpPr>
              <p:cNvPr id="1105" name="Google Shape;1105;p4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4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7" name="Google Shape;1107;p45"/>
            <p:cNvGrpSpPr/>
            <p:nvPr/>
          </p:nvGrpSpPr>
          <p:grpSpPr>
            <a:xfrm flipH="1" rot="-2006149">
              <a:off x="-1143338" y="2070024"/>
              <a:ext cx="2324989" cy="2229599"/>
              <a:chOff x="5165475" y="-713653"/>
              <a:chExt cx="2324999" cy="2229609"/>
            </a:xfrm>
          </p:grpSpPr>
          <p:sp>
            <p:nvSpPr>
              <p:cNvPr id="1108" name="Google Shape;1108;p4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0" name="Google Shape;1110;p45"/>
            <p:cNvGrpSpPr/>
            <p:nvPr/>
          </p:nvGrpSpPr>
          <p:grpSpPr>
            <a:xfrm flipH="1" rot="490164">
              <a:off x="682690" y="4092424"/>
              <a:ext cx="3324918" cy="3409649"/>
              <a:chOff x="7159200" y="2117361"/>
              <a:chExt cx="2271501" cy="2329387"/>
            </a:xfrm>
          </p:grpSpPr>
          <p:sp>
            <p:nvSpPr>
              <p:cNvPr id="1111" name="Google Shape;1111;p45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14" name="Google Shape;1114;p45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grpSp>
        <p:nvGrpSpPr>
          <p:cNvPr id="1115" name="Google Shape;1115;p45"/>
          <p:cNvGrpSpPr/>
          <p:nvPr/>
        </p:nvGrpSpPr>
        <p:grpSpPr>
          <a:xfrm>
            <a:off x="720321" y="368238"/>
            <a:ext cx="7920460" cy="4407033"/>
            <a:chOff x="710321" y="368238"/>
            <a:chExt cx="7920460" cy="4407033"/>
          </a:xfrm>
        </p:grpSpPr>
        <p:sp>
          <p:nvSpPr>
            <p:cNvPr id="1116" name="Google Shape;1116;p45"/>
            <p:cNvSpPr/>
            <p:nvPr/>
          </p:nvSpPr>
          <p:spPr>
            <a:xfrm flipH="1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5"/>
            <p:cNvSpPr/>
            <p:nvPr/>
          </p:nvSpPr>
          <p:spPr>
            <a:xfrm rot="10800000">
              <a:off x="710321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45"/>
          <p:cNvGrpSpPr/>
          <p:nvPr/>
        </p:nvGrpSpPr>
        <p:grpSpPr>
          <a:xfrm>
            <a:off x="2005298" y="1099866"/>
            <a:ext cx="2079759" cy="2404093"/>
            <a:chOff x="1852898" y="947466"/>
            <a:chExt cx="2079759" cy="2404093"/>
          </a:xfrm>
        </p:grpSpPr>
        <p:grpSp>
          <p:nvGrpSpPr>
            <p:cNvPr id="1119" name="Google Shape;1119;p45"/>
            <p:cNvGrpSpPr/>
            <p:nvPr/>
          </p:nvGrpSpPr>
          <p:grpSpPr>
            <a:xfrm flipH="1">
              <a:off x="1852898" y="3018088"/>
              <a:ext cx="882533" cy="333471"/>
              <a:chOff x="3551575" y="3215125"/>
              <a:chExt cx="389450" cy="147150"/>
            </a:xfrm>
          </p:grpSpPr>
          <p:sp>
            <p:nvSpPr>
              <p:cNvPr id="1120" name="Google Shape;1120;p45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45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45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45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45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45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45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45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45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45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45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45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45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2" name="Google Shape;1142;p45"/>
            <p:cNvGrpSpPr/>
            <p:nvPr/>
          </p:nvGrpSpPr>
          <p:grpSpPr>
            <a:xfrm flipH="1">
              <a:off x="3210559" y="947466"/>
              <a:ext cx="722099" cy="407700"/>
              <a:chOff x="1211425" y="918075"/>
              <a:chExt cx="722099" cy="407700"/>
            </a:xfrm>
          </p:grpSpPr>
          <p:sp>
            <p:nvSpPr>
              <p:cNvPr id="1143" name="Google Shape;1143;p4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4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4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4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4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4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4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4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4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4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4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4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4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4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4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4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61" name="Google Shape;1161;p45"/>
          <p:cNvSpPr txBox="1"/>
          <p:nvPr>
            <p:ph type="title"/>
          </p:nvPr>
        </p:nvSpPr>
        <p:spPr>
          <a:xfrm>
            <a:off x="4325725" y="1036182"/>
            <a:ext cx="36021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0"/>
              <a:t>Thank You!</a:t>
            </a:r>
            <a:endParaRPr b="1" sz="6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Any questions?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livery Plan Consulting by Slidesgo">
  <a:themeElements>
    <a:clrScheme name="Simple Light">
      <a:dk1>
        <a:srgbClr val="15153E"/>
      </a:dk1>
      <a:lt1>
        <a:srgbClr val="FFFFFF"/>
      </a:lt1>
      <a:dk2>
        <a:srgbClr val="5571FB"/>
      </a:dk2>
      <a:lt2>
        <a:srgbClr val="7A7A7A"/>
      </a:lt2>
      <a:accent1>
        <a:srgbClr val="A7F6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5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